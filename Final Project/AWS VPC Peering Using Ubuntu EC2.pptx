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Quattrocento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.fntdata"/><Relationship Id="rId3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33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32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F3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152400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VPC Peering Using Ubuntu EC2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265747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 Explanation of Services, Configuration, and Networking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56247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Student Name: </a:t>
            </a:r>
            <a:r>
              <a:rPr lang="en-US" sz="1650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ADITYA SHUKLA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10718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Course: Cloud Computing 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54912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Cloud Computing: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On-demand delivery of IT resources over the internet.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30338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Leading cloud provider offering scalable infrastructure.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0576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Networking in AWS: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backbone of cloud connectivity.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81191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VPC (Virtual Private Cloud):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 logically isolated section of the AWS cloud where you launch resources.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Objective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876300" y="301115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301019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two isolated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VPC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environments.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76300" y="334631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334535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Launch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Ubuntu EC2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instances in each.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76300" y="368147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368051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Establish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VPC Peering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connection.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76300" y="401663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401568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Enable private communication between instances.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76300" y="435179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52500" y="435084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Verify connectivity using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SSH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Diagram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8412" y="1409700"/>
            <a:ext cx="7115175" cy="49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Amazon VPC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302537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VPC provides a virtual network dedicated to your AWS account.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876300" y="372344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952500" y="372248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Isolation: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Logically separated from other customers.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76300" y="40586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952500" y="405765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Full control over IP ranges, subnets, and routing.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76300" y="439376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52500" y="43928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vs Private: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Distinguish traffic flow.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CIDR Block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571500" y="292625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Classless Inter-Domain Routing (CIDR) defines IP address ranges.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571500" y="368051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 </a:t>
            </a:r>
            <a:r>
              <a:rPr b="1" i="0" lang="en-US" sz="1650" u="none" cap="none" strike="noStrike">
                <a:solidFill>
                  <a:srgbClr val="FF99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10.0.0.0/16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provides 65,536 IPs.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443478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VPC Peering requires non-overlapping CIDR blocks to avoid routing ambiguity.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Subnet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571500" y="302537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segment of the VPC's IP range.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876300" y="372344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952500" y="372248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Subnet: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Routes traffic to Internet Gateway.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876300" y="40586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952500" y="405765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Private Subnet: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Isolated, no direct internet access.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876300" y="439376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952500" y="43928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Requirement: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Instances reside in subnets.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 Gateway (IGW)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71500" y="292625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VPC component that allows communication between the VPC and the internet.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71500" y="368051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Without an IGW, instances are private and cannot reach the web.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71500" y="443478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VPC Peering uses internal AWS backbone, not the IGW.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 Table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571500" y="302537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set of rules (routes) used to determine where network traffic is directed.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876300" y="372344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952500" y="372248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Route: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Communicates within the VPC.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876300" y="40586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952500" y="405765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Peering Route: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Directs traffic to the peer VPC CIDR.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876300" y="439376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952500" y="43928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 Route: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Directs traffic to 0.0.0.0/0 via IGW.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Groups</a:t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571500" y="302537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Virtual firewalls at the instance level.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876300" y="372344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952500" y="372248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Stateful: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Return traffic is automatically allowed.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876300" y="40586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952500" y="405765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Rules: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Define Inbound (what enters) and Outbound (what leaves).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876300" y="439376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952500" y="43928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Lab setup: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Allow SSH (22) and All ICMP.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Amazon EC2</a:t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571500" y="330338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Elastic Compute Cloud (EC2) provides resizable compute capacity.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571500" y="40576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our lab: Used to host the Ubuntu OS and act as the network end-point.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Ubuntu Server</a:t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571500" y="330338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Linux-based OS preferred for its stability, security, and open-source nature.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571500" y="40576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Provides powerful networking tools like ping, ssh, and ip addr.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Pair</a:t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571500" y="302537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Used to securely log into EC2 instances.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876300" y="372344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952500" y="372248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Key: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Stored on AWS.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876300" y="40586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952500" y="405765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Private Key (.pem):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Stored on your machine.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876300" y="439376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952500" y="43928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Benefit: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More secure than traditional passwords.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Addressing</a:t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571500" y="292625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Public IP: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Accessible from the internet.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571500" y="368051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Private IP: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Used for communication within the network (e.g., Peering).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571500" y="443478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Communication between VPCs should always use Private IPs.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VPC Peering</a:t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571500" y="292625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Networking connection between two VPCs allowing routing via private IP addresses.</a:t>
            </a:r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571500" y="368051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 stays within the AWS global backbone.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571500" y="443478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Fact: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Peering is NOT transitive.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Implementation Steps</a:t>
            </a: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8"/>
          <p:cNvSpPr txBox="1"/>
          <p:nvPr/>
        </p:nvSpPr>
        <p:spPr>
          <a:xfrm>
            <a:off x="781050" y="2675989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/>
          </a:p>
        </p:txBody>
      </p:sp>
      <p:sp>
        <p:nvSpPr>
          <p:cNvPr id="245" name="Google Shape;245;p28"/>
          <p:cNvSpPr txBox="1"/>
          <p:nvPr/>
        </p:nvSpPr>
        <p:spPr>
          <a:xfrm>
            <a:off x="952500" y="2675036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VPCs and Subnets.</a:t>
            </a:r>
            <a:endParaRPr/>
          </a:p>
        </p:txBody>
      </p:sp>
      <p:sp>
        <p:nvSpPr>
          <p:cNvPr id="246" name="Google Shape;246;p28"/>
          <p:cNvSpPr txBox="1"/>
          <p:nvPr/>
        </p:nvSpPr>
        <p:spPr>
          <a:xfrm>
            <a:off x="781050" y="3011150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952500" y="3010197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Attach Internet Gateways.</a:t>
            </a:r>
            <a:endParaRPr/>
          </a:p>
        </p:txBody>
      </p:sp>
      <p:sp>
        <p:nvSpPr>
          <p:cNvPr id="248" name="Google Shape;248;p28"/>
          <p:cNvSpPr txBox="1"/>
          <p:nvPr/>
        </p:nvSpPr>
        <p:spPr>
          <a:xfrm>
            <a:off x="781050" y="3346311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952500" y="334535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Launch Ubuntu instances.</a:t>
            </a:r>
            <a:endParaRPr/>
          </a:p>
        </p:txBody>
      </p:sp>
      <p:sp>
        <p:nvSpPr>
          <p:cNvPr id="250" name="Google Shape;250;p28"/>
          <p:cNvSpPr txBox="1"/>
          <p:nvPr/>
        </p:nvSpPr>
        <p:spPr>
          <a:xfrm>
            <a:off x="781050" y="368147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/>
          </a:p>
        </p:txBody>
      </p:sp>
      <p:sp>
        <p:nvSpPr>
          <p:cNvPr id="251" name="Google Shape;251;p28"/>
          <p:cNvSpPr txBox="1"/>
          <p:nvPr/>
        </p:nvSpPr>
        <p:spPr>
          <a:xfrm>
            <a:off x="952500" y="368051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Configure Security Groups.</a:t>
            </a:r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781050" y="401663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endParaRPr/>
          </a:p>
        </p:txBody>
      </p:sp>
      <p:sp>
        <p:nvSpPr>
          <p:cNvPr id="253" name="Google Shape;253;p28"/>
          <p:cNvSpPr txBox="1"/>
          <p:nvPr/>
        </p:nvSpPr>
        <p:spPr>
          <a:xfrm>
            <a:off x="952500" y="401568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and accept Peering connection.</a:t>
            </a:r>
            <a:endParaRPr/>
          </a:p>
        </p:txBody>
      </p:sp>
      <p:sp>
        <p:nvSpPr>
          <p:cNvPr id="254" name="Google Shape;254;p28"/>
          <p:cNvSpPr txBox="1"/>
          <p:nvPr/>
        </p:nvSpPr>
        <p:spPr>
          <a:xfrm>
            <a:off x="781050" y="4351793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endParaRPr/>
          </a:p>
        </p:txBody>
      </p:sp>
      <p:sp>
        <p:nvSpPr>
          <p:cNvPr id="255" name="Google Shape;255;p28"/>
          <p:cNvSpPr txBox="1"/>
          <p:nvPr/>
        </p:nvSpPr>
        <p:spPr>
          <a:xfrm>
            <a:off x="952500" y="435084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Update Route Tables.</a:t>
            </a:r>
            <a:endParaRPr/>
          </a:p>
        </p:txBody>
      </p:sp>
      <p:sp>
        <p:nvSpPr>
          <p:cNvPr id="256" name="Google Shape;256;p28"/>
          <p:cNvSpPr txBox="1"/>
          <p:nvPr/>
        </p:nvSpPr>
        <p:spPr>
          <a:xfrm>
            <a:off x="781050" y="4686954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</a:t>
            </a:r>
            <a:endParaRPr/>
          </a:p>
        </p:txBody>
      </p:sp>
      <p:sp>
        <p:nvSpPr>
          <p:cNvPr id="257" name="Google Shape;257;p28"/>
          <p:cNvSpPr txBox="1"/>
          <p:nvPr/>
        </p:nvSpPr>
        <p:spPr>
          <a:xfrm>
            <a:off x="952500" y="468600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connectivity.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Networking Flow</a:t>
            </a:r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571500" y="313580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Packet Traversal:</a:t>
            </a:r>
            <a:endParaRPr/>
          </a:p>
        </p:txBody>
      </p:sp>
      <p:sp>
        <p:nvSpPr>
          <p:cNvPr id="265" name="Google Shape;265;p29"/>
          <p:cNvSpPr txBox="1"/>
          <p:nvPr/>
        </p:nvSpPr>
        <p:spPr>
          <a:xfrm>
            <a:off x="571500" y="3890069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 Ubuntu -&gt; Subnet -&gt; Route Table -&gt; Peering Connection -&gt; Route Table -&gt; Destination Subnet -&gt; Destination Ubuntu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Verification</a:t>
            </a:r>
            <a:endParaRPr/>
          </a:p>
        </p:txBody>
      </p:sp>
      <p:sp>
        <p:nvSpPr>
          <p:cNvPr id="271" name="Google Shape;271;p30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571500" y="3025378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Commands:</a:t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876300" y="372344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74" name="Google Shape;274;p30"/>
          <p:cNvSpPr txBox="1"/>
          <p:nvPr/>
        </p:nvSpPr>
        <p:spPr>
          <a:xfrm>
            <a:off x="952500" y="372248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ping &lt;private-ip&gt;: Verify connectivity.</a:t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876300" y="405860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76" name="Google Shape;276;p30"/>
          <p:cNvSpPr txBox="1"/>
          <p:nvPr/>
        </p:nvSpPr>
        <p:spPr>
          <a:xfrm>
            <a:off x="952500" y="405765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hostname -I: Check private IP.</a:t>
            </a:r>
            <a:endParaRPr/>
          </a:p>
        </p:txBody>
      </p:sp>
      <p:sp>
        <p:nvSpPr>
          <p:cNvPr id="277" name="Google Shape;277;p30"/>
          <p:cNvSpPr txBox="1"/>
          <p:nvPr/>
        </p:nvSpPr>
        <p:spPr>
          <a:xfrm>
            <a:off x="876300" y="439376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78" name="Google Shape;278;p30"/>
          <p:cNvSpPr txBox="1"/>
          <p:nvPr/>
        </p:nvSpPr>
        <p:spPr>
          <a:xfrm>
            <a:off x="952500" y="43928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 addr: Detailed network interface view.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Common Errors</a:t>
            </a:r>
            <a:endParaRPr/>
          </a:p>
        </p:txBody>
      </p:sp>
      <p:sp>
        <p:nvSpPr>
          <p:cNvPr id="284" name="Google Shape;284;p31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876300" y="317873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86" name="Google Shape;286;p31"/>
          <p:cNvSpPr txBox="1"/>
          <p:nvPr/>
        </p:nvSpPr>
        <p:spPr>
          <a:xfrm>
            <a:off x="952500" y="317777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 table not updated.</a:t>
            </a:r>
            <a:endParaRPr/>
          </a:p>
        </p:txBody>
      </p:sp>
      <p:sp>
        <p:nvSpPr>
          <p:cNvPr id="287" name="Google Shape;287;p31"/>
          <p:cNvSpPr txBox="1"/>
          <p:nvPr/>
        </p:nvSpPr>
        <p:spPr>
          <a:xfrm>
            <a:off x="876300" y="351389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88" name="Google Shape;288;p31"/>
          <p:cNvSpPr txBox="1"/>
          <p:nvPr/>
        </p:nvSpPr>
        <p:spPr>
          <a:xfrm>
            <a:off x="952500" y="351293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Overlapping CIDR blocks.</a:t>
            </a:r>
            <a:endParaRPr/>
          </a:p>
        </p:txBody>
      </p:sp>
      <p:sp>
        <p:nvSpPr>
          <p:cNvPr id="289" name="Google Shape;289;p31"/>
          <p:cNvSpPr txBox="1"/>
          <p:nvPr/>
        </p:nvSpPr>
        <p:spPr>
          <a:xfrm>
            <a:off x="876300" y="384905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90" name="Google Shape;290;p31"/>
          <p:cNvSpPr txBox="1"/>
          <p:nvPr/>
        </p:nvSpPr>
        <p:spPr>
          <a:xfrm>
            <a:off x="952500" y="38481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groups blocking ICMP.</a:t>
            </a:r>
            <a:endParaRPr/>
          </a:p>
        </p:txBody>
      </p:sp>
      <p:sp>
        <p:nvSpPr>
          <p:cNvPr id="291" name="Google Shape;291;p31"/>
          <p:cNvSpPr txBox="1"/>
          <p:nvPr/>
        </p:nvSpPr>
        <p:spPr>
          <a:xfrm>
            <a:off x="876300" y="418421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292" name="Google Shape;292;p31"/>
          <p:cNvSpPr txBox="1"/>
          <p:nvPr/>
        </p:nvSpPr>
        <p:spPr>
          <a:xfrm>
            <a:off x="952500" y="418326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Peering request not accepted.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Advantages</a:t>
            </a:r>
            <a:endParaRPr/>
          </a:p>
        </p:txBody>
      </p:sp>
      <p:sp>
        <p:nvSpPr>
          <p:cNvPr id="298" name="Google Shape;298;p32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876300" y="317873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00" name="Google Shape;300;p32"/>
          <p:cNvSpPr txBox="1"/>
          <p:nvPr/>
        </p:nvSpPr>
        <p:spPr>
          <a:xfrm>
            <a:off x="952500" y="317777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 private communication.</a:t>
            </a: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876300" y="351389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952500" y="351293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Low latency, high speed.</a:t>
            </a:r>
            <a:endParaRPr/>
          </a:p>
        </p:txBody>
      </p:sp>
      <p:sp>
        <p:nvSpPr>
          <p:cNvPr id="303" name="Google Shape;303;p32"/>
          <p:cNvSpPr txBox="1"/>
          <p:nvPr/>
        </p:nvSpPr>
        <p:spPr>
          <a:xfrm>
            <a:off x="876300" y="384905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04" name="Google Shape;304;p32"/>
          <p:cNvSpPr txBox="1"/>
          <p:nvPr/>
        </p:nvSpPr>
        <p:spPr>
          <a:xfrm>
            <a:off x="952500" y="384810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additional hardware required.</a:t>
            </a:r>
            <a:endParaRPr/>
          </a:p>
        </p:txBody>
      </p:sp>
      <p:sp>
        <p:nvSpPr>
          <p:cNvPr id="305" name="Google Shape;305;p32"/>
          <p:cNvSpPr txBox="1"/>
          <p:nvPr/>
        </p:nvSpPr>
        <p:spPr>
          <a:xfrm>
            <a:off x="876300" y="418421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06" name="Google Shape;306;p32"/>
          <p:cNvSpPr txBox="1"/>
          <p:nvPr/>
        </p:nvSpPr>
        <p:spPr>
          <a:xfrm>
            <a:off x="952500" y="418326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Cost-effective.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Limitations</a:t>
            </a:r>
            <a:endParaRPr/>
          </a:p>
        </p:txBody>
      </p:sp>
      <p:sp>
        <p:nvSpPr>
          <p:cNvPr id="312" name="Google Shape;312;p33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3"/>
          <p:cNvSpPr txBox="1"/>
          <p:nvPr/>
        </p:nvSpPr>
        <p:spPr>
          <a:xfrm>
            <a:off x="876300" y="334631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952500" y="334535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Non-transitive routing.</a:t>
            </a:r>
            <a:endParaRPr/>
          </a:p>
        </p:txBody>
      </p:sp>
      <p:sp>
        <p:nvSpPr>
          <p:cNvPr id="315" name="Google Shape;315;p33"/>
          <p:cNvSpPr txBox="1"/>
          <p:nvPr/>
        </p:nvSpPr>
        <p:spPr>
          <a:xfrm>
            <a:off x="876300" y="368147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16" name="Google Shape;316;p33"/>
          <p:cNvSpPr txBox="1"/>
          <p:nvPr/>
        </p:nvSpPr>
        <p:spPr>
          <a:xfrm>
            <a:off x="952500" y="368051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overlapping CIDRs allowed.</a:t>
            </a:r>
            <a:endParaRPr/>
          </a:p>
        </p:txBody>
      </p:sp>
      <p:sp>
        <p:nvSpPr>
          <p:cNvPr id="317" name="Google Shape;317;p33"/>
          <p:cNvSpPr txBox="1"/>
          <p:nvPr/>
        </p:nvSpPr>
        <p:spPr>
          <a:xfrm>
            <a:off x="876300" y="401663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18" name="Google Shape;318;p33"/>
          <p:cNvSpPr txBox="1"/>
          <p:nvPr/>
        </p:nvSpPr>
        <p:spPr>
          <a:xfrm>
            <a:off x="952500" y="401568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route updates required.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</a:t>
            </a:r>
            <a:endParaRPr/>
          </a:p>
        </p:txBody>
      </p:sp>
      <p:sp>
        <p:nvSpPr>
          <p:cNvPr id="324" name="Google Shape;324;p34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4"/>
          <p:cNvSpPr txBox="1"/>
          <p:nvPr/>
        </p:nvSpPr>
        <p:spPr>
          <a:xfrm>
            <a:off x="876300" y="334631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26" name="Google Shape;326;p34"/>
          <p:cNvSpPr txBox="1"/>
          <p:nvPr/>
        </p:nvSpPr>
        <p:spPr>
          <a:xfrm>
            <a:off x="952500" y="3345358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Multi-tier applications (App layer peering to DB layer).</a:t>
            </a:r>
            <a:endParaRPr/>
          </a:p>
        </p:txBody>
      </p:sp>
      <p:sp>
        <p:nvSpPr>
          <p:cNvPr id="327" name="Google Shape;327;p34"/>
          <p:cNvSpPr txBox="1"/>
          <p:nvPr/>
        </p:nvSpPr>
        <p:spPr>
          <a:xfrm>
            <a:off x="876300" y="368147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28" name="Google Shape;328;p34"/>
          <p:cNvSpPr txBox="1"/>
          <p:nvPr/>
        </p:nvSpPr>
        <p:spPr>
          <a:xfrm>
            <a:off x="952500" y="3680519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Development and Production environment separation.</a:t>
            </a:r>
            <a:endParaRPr/>
          </a:p>
        </p:txBody>
      </p:sp>
      <p:sp>
        <p:nvSpPr>
          <p:cNvPr id="329" name="Google Shape;329;p34"/>
          <p:cNvSpPr txBox="1"/>
          <p:nvPr/>
        </p:nvSpPr>
        <p:spPr>
          <a:xfrm>
            <a:off x="876300" y="401663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/>
          </a:p>
        </p:txBody>
      </p:sp>
      <p:sp>
        <p:nvSpPr>
          <p:cNvPr id="330" name="Google Shape;330;p34"/>
          <p:cNvSpPr txBox="1"/>
          <p:nvPr/>
        </p:nvSpPr>
        <p:spPr>
          <a:xfrm>
            <a:off x="952500" y="401568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Hybrid cloud connectivity.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Summary</a:t>
            </a:r>
            <a:endParaRPr/>
          </a:p>
        </p:txBody>
      </p:sp>
      <p:sp>
        <p:nvSpPr>
          <p:cNvPr id="336" name="Google Shape;336;p35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5"/>
          <p:cNvSpPr txBox="1"/>
          <p:nvPr/>
        </p:nvSpPr>
        <p:spPr>
          <a:xfrm>
            <a:off x="571500" y="330338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Successfully demonstrated VPC Peering using Ubuntu EC2.</a:t>
            </a:r>
            <a:endParaRPr/>
          </a:p>
        </p:txBody>
      </p:sp>
      <p:sp>
        <p:nvSpPr>
          <p:cNvPr id="338" name="Google Shape;338;p35"/>
          <p:cNvSpPr txBox="1"/>
          <p:nvPr/>
        </p:nvSpPr>
        <p:spPr>
          <a:xfrm>
            <a:off x="571500" y="40576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Configured VPCs, updated route tables, and validated private network traffic flows using AWS best practices.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32F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/>
          </a:p>
        </p:txBody>
      </p:sp>
      <p:sp>
        <p:nvSpPr>
          <p:cNvPr id="344" name="Google Shape;344;p36"/>
          <p:cNvSpPr/>
          <p:nvPr/>
        </p:nvSpPr>
        <p:spPr>
          <a:xfrm>
            <a:off x="571500" y="100012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571500" y="3303389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AWS Networking components work together to provide secure, private, and scalable infrastructure.</a:t>
            </a:r>
            <a:endParaRPr/>
          </a:p>
        </p:txBody>
      </p:sp>
      <p:sp>
        <p:nvSpPr>
          <p:cNvPr id="346" name="Google Shape;346;p36"/>
          <p:cNvSpPr txBox="1"/>
          <p:nvPr/>
        </p:nvSpPr>
        <p:spPr>
          <a:xfrm>
            <a:off x="571500" y="4057650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VPC Peering is essential for architecting robust cloud environments.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