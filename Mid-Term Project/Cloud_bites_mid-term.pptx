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embeddedFontLst>
    <p:embeddedFont>
      <p:font typeface="Lato" panose="020F0502020204030203" pitchFamily="34" charset="0"/>
      <p:regular r:id="rId15"/>
      <p:bold r:id="rId16"/>
      <p:italic r:id="rId17"/>
      <p:boldItalic r:id="rId18"/>
    </p:embeddedFont>
    <p:embeddedFont>
      <p:font typeface="Lato Light" panose="020F0502020204030203" pitchFamily="34" charset="0"/>
      <p:regular r:id="rId19"/>
      <p:bold r:id="rId20"/>
      <p:italic r:id="rId21"/>
      <p:boldItalic r:id="rId22"/>
    </p:embeddedFont>
    <p:embeddedFont>
      <p:font typeface="Poppins" panose="00000500000000000000" pitchFamily="2" charset="0"/>
      <p:regular r:id="rId23"/>
      <p:bold r:id="rId24"/>
      <p:italic r:id="rId25"/>
      <p:boldItalic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E4F545B-C274-4302-A942-4ADDF62F103D}">
  <a:tblStyle styleId="{1E4F545B-C274-4302-A942-4ADDF62F103D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font" Target="fonts/font12.fntdata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font" Target="fonts/font11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0.fntdata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" name="Google Shape;19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" name="Google Shape;22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5" name="Google Shape;25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8" name="Google Shape;288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3" name="Google Shape;31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2" name="Google Shape;332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jp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1595437" y="2585144"/>
            <a:ext cx="9001125" cy="754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>
                <a:solidFill>
                  <a:srgbClr val="232F3E"/>
                </a:solidFill>
                <a:latin typeface="Poppins"/>
                <a:ea typeface="Poppins"/>
                <a:cs typeface="Poppins"/>
                <a:sym typeface="Poppins"/>
              </a:rPr>
              <a:t>Cloud Bites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1809750" y="3434655"/>
            <a:ext cx="85725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545B64"/>
                </a:solidFill>
                <a:latin typeface="Lato Light"/>
                <a:ea typeface="Lato Light"/>
                <a:cs typeface="Lato Light"/>
                <a:sym typeface="Lato Light"/>
              </a:rPr>
              <a:t>AWS-Based Restaurant Ordering System</a:t>
            </a:r>
            <a:endParaRPr/>
          </a:p>
        </p:txBody>
      </p:sp>
      <p:sp>
        <p:nvSpPr>
          <p:cNvPr id="87" name="Google Shape;87;p13"/>
          <p:cNvSpPr/>
          <p:nvPr/>
        </p:nvSpPr>
        <p:spPr>
          <a:xfrm>
            <a:off x="5381625" y="4291905"/>
            <a:ext cx="1428750" cy="381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8" name="Google Shape;88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524500" y="1127819"/>
            <a:ext cx="1143000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3"/>
          <p:cNvSpPr txBox="1"/>
          <p:nvPr/>
        </p:nvSpPr>
        <p:spPr>
          <a:xfrm>
            <a:off x="1809750" y="4711005"/>
            <a:ext cx="40005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F9900"/>
                </a:solidFill>
                <a:latin typeface="Poppins"/>
                <a:ea typeface="Poppins"/>
                <a:cs typeface="Poppins"/>
                <a:sym typeface="Poppins"/>
              </a:rPr>
              <a:t>Major Project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1809750" y="5253930"/>
            <a:ext cx="38100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sng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Team Members:</a:t>
            </a:r>
            <a:br>
              <a:rPr lang="en-US" sz="1600" b="1" i="0" u="sng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600" b="1" i="0" u="sng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Arpit Gupta &amp; Aditya Shukla</a:t>
            </a:r>
            <a:endParaRPr sz="1600" b="1" u="sng"/>
          </a:p>
        </p:txBody>
      </p:sp>
      <p:sp>
        <p:nvSpPr>
          <p:cNvPr id="91" name="Google Shape;91;p13"/>
          <p:cNvSpPr txBox="1"/>
          <p:nvPr/>
        </p:nvSpPr>
        <p:spPr>
          <a:xfrm>
            <a:off x="6572250" y="4801492"/>
            <a:ext cx="40005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F9900"/>
                </a:solidFill>
                <a:latin typeface="Poppins"/>
                <a:ea typeface="Poppins"/>
                <a:cs typeface="Poppins"/>
                <a:sym typeface="Poppins"/>
              </a:rPr>
              <a:t>Faculty Guide</a:t>
            </a:r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572250" y="5344417"/>
            <a:ext cx="38100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u="sng">
                <a:latin typeface="Lato"/>
                <a:ea typeface="Lato"/>
                <a:cs typeface="Lato"/>
                <a:sym typeface="Lato"/>
              </a:rPr>
              <a:t>Anmol Singh</a:t>
            </a:r>
            <a:endParaRPr sz="1600" b="1" u="sng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635746"/>
            <a:ext cx="5334000" cy="2491382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0" y="2884140"/>
            <a:ext cx="5334000" cy="1994445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4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232F3E"/>
                </a:solidFill>
                <a:latin typeface="Poppins"/>
                <a:ea typeface="Poppins"/>
                <a:cs typeface="Poppins"/>
                <a:sym typeface="Poppins"/>
              </a:rPr>
              <a:t>Problem Statement</a:t>
            </a:r>
            <a:endParaRPr/>
          </a:p>
        </p:txBody>
      </p:sp>
      <p:sp>
        <p:nvSpPr>
          <p:cNvPr id="101" name="Google Shape;101;p14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4"/>
          <p:cNvSpPr txBox="1"/>
          <p:nvPr/>
        </p:nvSpPr>
        <p:spPr>
          <a:xfrm>
            <a:off x="809625" y="2911971"/>
            <a:ext cx="5100637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F9900"/>
                </a:solidFill>
                <a:latin typeface="Poppins"/>
                <a:ea typeface="Poppins"/>
                <a:cs typeface="Poppins"/>
                <a:sym typeface="Poppins"/>
              </a:rPr>
              <a:t>The Challenges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6524625" y="3160365"/>
            <a:ext cx="5100637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F9900"/>
                </a:solidFill>
                <a:latin typeface="Poppins"/>
                <a:ea typeface="Poppins"/>
                <a:cs typeface="Poppins"/>
                <a:sym typeface="Poppins"/>
              </a:rPr>
              <a:t>The Solution: Cloud Bites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6524625" y="3703290"/>
            <a:ext cx="4857750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A modern, AWS-powered cloud infrastructure that automates ordering, streamlines admin tasks, and provides a scalable, secure database architecture.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904875" y="3485376"/>
            <a:ext cx="952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1000125" y="3483471"/>
            <a:ext cx="4667250" cy="308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7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Manual order management &amp; paper records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904875" y="3793896"/>
            <a:ext cx="952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1000125" y="3791991"/>
            <a:ext cx="4667250" cy="308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7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Slow processing &amp; high human error risk</a:t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904875" y="4102417"/>
            <a:ext cx="952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10" name="Google Shape;110;p14"/>
          <p:cNvSpPr txBox="1"/>
          <p:nvPr/>
        </p:nvSpPr>
        <p:spPr>
          <a:xfrm>
            <a:off x="1000125" y="4100512"/>
            <a:ext cx="4667250" cy="308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7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Difficult menu &amp; inventory management</a:t>
            </a:r>
            <a:endParaRPr/>
          </a:p>
        </p:txBody>
      </p:sp>
      <p:sp>
        <p:nvSpPr>
          <p:cNvPr id="111" name="Google Shape;111;p14"/>
          <p:cNvSpPr txBox="1"/>
          <p:nvPr/>
        </p:nvSpPr>
        <p:spPr>
          <a:xfrm>
            <a:off x="904875" y="4410938"/>
            <a:ext cx="952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12" name="Google Shape;112;p14"/>
          <p:cNvSpPr txBox="1"/>
          <p:nvPr/>
        </p:nvSpPr>
        <p:spPr>
          <a:xfrm>
            <a:off x="1000125" y="4409033"/>
            <a:ext cx="4667250" cy="308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7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Lack of centralized customer data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117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1976437"/>
            <a:ext cx="533400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5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232F3E"/>
                </a:solidFill>
                <a:latin typeface="Poppins"/>
                <a:ea typeface="Poppins"/>
                <a:cs typeface="Poppins"/>
                <a:sym typeface="Poppins"/>
              </a:rPr>
              <a:t>Project Overview</a:t>
            </a:r>
            <a:endParaRPr/>
          </a:p>
        </p:txBody>
      </p:sp>
      <p:sp>
        <p:nvSpPr>
          <p:cNvPr id="120" name="Google Shape;120;p15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5"/>
          <p:cNvSpPr txBox="1"/>
          <p:nvPr/>
        </p:nvSpPr>
        <p:spPr>
          <a:xfrm>
            <a:off x="952500" y="2907357"/>
            <a:ext cx="4953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232F3E"/>
                </a:solidFill>
                <a:latin typeface="Lato"/>
                <a:ea typeface="Lato"/>
                <a:cs typeface="Lato"/>
                <a:sym typeface="Lato"/>
              </a:rPr>
              <a:t>Deployed on AWS</a:t>
            </a:r>
            <a:endParaRPr/>
          </a:p>
        </p:txBody>
      </p:sp>
      <p:sp>
        <p:nvSpPr>
          <p:cNvPr id="122" name="Google Shape;122;p15"/>
          <p:cNvSpPr txBox="1"/>
          <p:nvPr/>
        </p:nvSpPr>
        <p:spPr>
          <a:xfrm>
            <a:off x="571500" y="3278832"/>
            <a:ext cx="5334000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Cloud Bites is a full-stack web application designed for high availability and performance.</a:t>
            </a:r>
            <a:endParaRPr/>
          </a:p>
        </p:txBody>
      </p:sp>
      <p:pic>
        <p:nvPicPr>
          <p:cNvPr id="123" name="Google Shape;123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0" y="1976437"/>
            <a:ext cx="533400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2907357"/>
            <a:ext cx="2857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5"/>
          <p:cNvSpPr txBox="1"/>
          <p:nvPr/>
        </p:nvSpPr>
        <p:spPr>
          <a:xfrm>
            <a:off x="571500" y="4033837"/>
            <a:ext cx="2700337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F9900"/>
                </a:solidFill>
                <a:latin typeface="Lato"/>
                <a:ea typeface="Lato"/>
                <a:cs typeface="Lato"/>
                <a:sym typeface="Lato"/>
              </a:rPr>
              <a:t>Customer Side</a:t>
            </a:r>
            <a:endParaRPr/>
          </a:p>
        </p:txBody>
      </p:sp>
      <p:sp>
        <p:nvSpPr>
          <p:cNvPr id="126" name="Google Shape;126;p15"/>
          <p:cNvSpPr txBox="1"/>
          <p:nvPr/>
        </p:nvSpPr>
        <p:spPr>
          <a:xfrm>
            <a:off x="571500" y="4417367"/>
            <a:ext cx="257175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Register, Search Food, Cart Management, Order Tracking.</a:t>
            </a:r>
            <a:endParaRPr/>
          </a:p>
        </p:txBody>
      </p:sp>
      <p:sp>
        <p:nvSpPr>
          <p:cNvPr id="127" name="Google Shape;127;p15"/>
          <p:cNvSpPr txBox="1"/>
          <p:nvPr/>
        </p:nvSpPr>
        <p:spPr>
          <a:xfrm>
            <a:off x="3333750" y="4033837"/>
            <a:ext cx="2700337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F9900"/>
                </a:solidFill>
                <a:latin typeface="Lato"/>
                <a:ea typeface="Lato"/>
                <a:cs typeface="Lato"/>
                <a:sym typeface="Lato"/>
              </a:rPr>
              <a:t>Admin Side</a:t>
            </a:r>
            <a:endParaRPr/>
          </a:p>
        </p:txBody>
      </p:sp>
      <p:sp>
        <p:nvSpPr>
          <p:cNvPr id="128" name="Google Shape;128;p15"/>
          <p:cNvSpPr txBox="1"/>
          <p:nvPr/>
        </p:nvSpPr>
        <p:spPr>
          <a:xfrm>
            <a:off x="3333750" y="4417367"/>
            <a:ext cx="257175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Menu Control, Dashboard Analytics, Order Status Updates.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Google Shape;133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6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232F3E"/>
                </a:solidFill>
                <a:latin typeface="Poppins"/>
                <a:ea typeface="Poppins"/>
                <a:cs typeface="Poppins"/>
                <a:sym typeface="Poppins"/>
              </a:rPr>
              <a:t>Technology Stack</a:t>
            </a:r>
            <a:endParaRPr/>
          </a:p>
        </p:txBody>
      </p:sp>
      <p:sp>
        <p:nvSpPr>
          <p:cNvPr id="135" name="Google Shape;135;p16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36" name="Google Shape;136;p16"/>
          <p:cNvGraphicFramePr/>
          <p:nvPr/>
        </p:nvGraphicFramePr>
        <p:xfrm>
          <a:off x="571500" y="2428875"/>
          <a:ext cx="11049025" cy="2905075"/>
        </p:xfrm>
        <a:graphic>
          <a:graphicData uri="http://schemas.openxmlformats.org/drawingml/2006/table">
            <a:tbl>
              <a:tblPr firstRow="1" bandRow="1">
                <a:noFill/>
                <a:tableStyleId>{1E4F545B-C274-4302-A942-4ADDF62F103D}</a:tableStyleId>
              </a:tblPr>
              <a:tblGrid>
                <a:gridCol w="2033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23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91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41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Component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Technology Used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Brief Description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F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41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Frontend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HTML, CSS, Bootstrap, JS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Responsive UI with modern, clean layouts.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41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Backend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PHP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Server-side scripting for logic and DB connection.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41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Server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Apache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High-performance web server hosted on EC2.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41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Database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MySQL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Relational data storage managed via Amazon RDS.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42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Cloud Platform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Amazon Web Services (AWS)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Scalable cloud infrastructure &amp; networking.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37" name="Google Shape;137;p16"/>
          <p:cNvSpPr/>
          <p:nvPr/>
        </p:nvSpPr>
        <p:spPr>
          <a:xfrm>
            <a:off x="571500" y="3414712"/>
            <a:ext cx="2033289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6"/>
          <p:cNvSpPr/>
          <p:nvPr/>
        </p:nvSpPr>
        <p:spPr>
          <a:xfrm>
            <a:off x="2604789" y="3414712"/>
            <a:ext cx="3423791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6"/>
          <p:cNvSpPr/>
          <p:nvPr/>
        </p:nvSpPr>
        <p:spPr>
          <a:xfrm>
            <a:off x="6028580" y="3414712"/>
            <a:ext cx="5591919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6"/>
          <p:cNvSpPr/>
          <p:nvPr/>
        </p:nvSpPr>
        <p:spPr>
          <a:xfrm>
            <a:off x="571500" y="3890962"/>
            <a:ext cx="2033289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6"/>
          <p:cNvSpPr/>
          <p:nvPr/>
        </p:nvSpPr>
        <p:spPr>
          <a:xfrm>
            <a:off x="2604789" y="3890962"/>
            <a:ext cx="3423791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6"/>
          <p:cNvSpPr/>
          <p:nvPr/>
        </p:nvSpPr>
        <p:spPr>
          <a:xfrm>
            <a:off x="6028580" y="3890962"/>
            <a:ext cx="5591919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6"/>
          <p:cNvSpPr/>
          <p:nvPr/>
        </p:nvSpPr>
        <p:spPr>
          <a:xfrm>
            <a:off x="571500" y="4367212"/>
            <a:ext cx="2033289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6"/>
          <p:cNvSpPr/>
          <p:nvPr/>
        </p:nvSpPr>
        <p:spPr>
          <a:xfrm>
            <a:off x="2604789" y="4367212"/>
            <a:ext cx="3423791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6"/>
          <p:cNvSpPr/>
          <p:nvPr/>
        </p:nvSpPr>
        <p:spPr>
          <a:xfrm>
            <a:off x="6028580" y="4367212"/>
            <a:ext cx="5591919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6"/>
          <p:cNvSpPr/>
          <p:nvPr/>
        </p:nvSpPr>
        <p:spPr>
          <a:xfrm>
            <a:off x="571500" y="4843462"/>
            <a:ext cx="2033289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6"/>
          <p:cNvSpPr/>
          <p:nvPr/>
        </p:nvSpPr>
        <p:spPr>
          <a:xfrm>
            <a:off x="2604789" y="4843462"/>
            <a:ext cx="3423791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6"/>
          <p:cNvSpPr/>
          <p:nvPr/>
        </p:nvSpPr>
        <p:spPr>
          <a:xfrm>
            <a:off x="6028580" y="4843462"/>
            <a:ext cx="5591919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6"/>
          <p:cNvSpPr/>
          <p:nvPr/>
        </p:nvSpPr>
        <p:spPr>
          <a:xfrm>
            <a:off x="571500" y="5319712"/>
            <a:ext cx="2033289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6"/>
          <p:cNvSpPr/>
          <p:nvPr/>
        </p:nvSpPr>
        <p:spPr>
          <a:xfrm>
            <a:off x="2604789" y="5319712"/>
            <a:ext cx="3423791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6"/>
          <p:cNvSpPr/>
          <p:nvPr/>
        </p:nvSpPr>
        <p:spPr>
          <a:xfrm>
            <a:off x="6028580" y="5319712"/>
            <a:ext cx="5591919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295525"/>
            <a:ext cx="3524250" cy="1466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33875" y="2295525"/>
            <a:ext cx="3524250" cy="1466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096250" y="2295525"/>
            <a:ext cx="3524250" cy="1466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4000500"/>
            <a:ext cx="3524250" cy="1466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33875" y="4000500"/>
            <a:ext cx="3524250" cy="1466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096250" y="4000500"/>
            <a:ext cx="3524250" cy="146685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7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232F3E"/>
                </a:solidFill>
                <a:latin typeface="Poppins"/>
                <a:ea typeface="Poppins"/>
                <a:cs typeface="Poppins"/>
                <a:sym typeface="Poppins"/>
              </a:rPr>
              <a:t>Core AWS Infrastructure</a:t>
            </a:r>
            <a:endParaRPr/>
          </a:p>
        </p:txBody>
      </p:sp>
      <p:sp>
        <p:nvSpPr>
          <p:cNvPr id="164" name="Google Shape;164;p17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7"/>
          <p:cNvSpPr txBox="1"/>
          <p:nvPr/>
        </p:nvSpPr>
        <p:spPr>
          <a:xfrm>
            <a:off x="1133475" y="2571750"/>
            <a:ext cx="2724150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232F3E"/>
                </a:solidFill>
                <a:latin typeface="Lato"/>
                <a:ea typeface="Lato"/>
                <a:cs typeface="Lato"/>
                <a:sym typeface="Lato"/>
              </a:rPr>
              <a:t>Amazon EC2</a:t>
            </a:r>
            <a:endParaRPr/>
          </a:p>
        </p:txBody>
      </p:sp>
      <p:sp>
        <p:nvSpPr>
          <p:cNvPr id="166" name="Google Shape;166;p17"/>
          <p:cNvSpPr txBox="1"/>
          <p:nvPr/>
        </p:nvSpPr>
        <p:spPr>
          <a:xfrm>
            <a:off x="809625" y="3086100"/>
            <a:ext cx="30480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Hosts the Apache Web Server and PHP application files. Provides reliable compute capacity.</a:t>
            </a:r>
            <a:endParaRPr/>
          </a:p>
        </p:txBody>
      </p:sp>
      <p:sp>
        <p:nvSpPr>
          <p:cNvPr id="167" name="Google Shape;167;p17"/>
          <p:cNvSpPr txBox="1"/>
          <p:nvPr/>
        </p:nvSpPr>
        <p:spPr>
          <a:xfrm>
            <a:off x="4867275" y="2571750"/>
            <a:ext cx="2752725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232F3E"/>
                </a:solidFill>
                <a:latin typeface="Lato"/>
                <a:ea typeface="Lato"/>
                <a:cs typeface="Lato"/>
                <a:sym typeface="Lato"/>
              </a:rPr>
              <a:t>Amazon RDS</a:t>
            </a:r>
            <a:endParaRPr/>
          </a:p>
        </p:txBody>
      </p:sp>
      <p:sp>
        <p:nvSpPr>
          <p:cNvPr id="168" name="Google Shape;168;p17"/>
          <p:cNvSpPr txBox="1"/>
          <p:nvPr/>
        </p:nvSpPr>
        <p:spPr>
          <a:xfrm>
            <a:off x="4572000" y="3086100"/>
            <a:ext cx="30480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Managed MySQL database storing users, menu, and orders. Offloads DB administration.</a:t>
            </a:r>
            <a:endParaRPr/>
          </a:p>
        </p:txBody>
      </p:sp>
      <p:sp>
        <p:nvSpPr>
          <p:cNvPr id="169" name="Google Shape;169;p17"/>
          <p:cNvSpPr txBox="1"/>
          <p:nvPr/>
        </p:nvSpPr>
        <p:spPr>
          <a:xfrm>
            <a:off x="8715375" y="2571750"/>
            <a:ext cx="2667000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232F3E"/>
                </a:solidFill>
                <a:latin typeface="Lato"/>
                <a:ea typeface="Lato"/>
                <a:cs typeface="Lato"/>
                <a:sym typeface="Lato"/>
              </a:rPr>
              <a:t>Amazon VPC</a:t>
            </a:r>
            <a:endParaRPr/>
          </a:p>
        </p:txBody>
      </p:sp>
      <p:sp>
        <p:nvSpPr>
          <p:cNvPr id="170" name="Google Shape;170;p17"/>
          <p:cNvSpPr txBox="1"/>
          <p:nvPr/>
        </p:nvSpPr>
        <p:spPr>
          <a:xfrm>
            <a:off x="8334375" y="3086100"/>
            <a:ext cx="30480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Logically isolated virtual network. Houses EC2 and RDS for secure communication.</a:t>
            </a:r>
            <a:endParaRPr/>
          </a:p>
        </p:txBody>
      </p:sp>
      <p:sp>
        <p:nvSpPr>
          <p:cNvPr id="171" name="Google Shape;171;p17"/>
          <p:cNvSpPr txBox="1"/>
          <p:nvPr/>
        </p:nvSpPr>
        <p:spPr>
          <a:xfrm>
            <a:off x="1133475" y="4276725"/>
            <a:ext cx="2724150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232F3E"/>
                </a:solidFill>
                <a:latin typeface="Lato"/>
                <a:ea typeface="Lato"/>
                <a:cs typeface="Lato"/>
                <a:sym typeface="Lato"/>
              </a:rPr>
              <a:t>Security Groups</a:t>
            </a:r>
            <a:endParaRPr/>
          </a:p>
        </p:txBody>
      </p:sp>
      <p:sp>
        <p:nvSpPr>
          <p:cNvPr id="172" name="Google Shape;172;p17"/>
          <p:cNvSpPr txBox="1"/>
          <p:nvPr/>
        </p:nvSpPr>
        <p:spPr>
          <a:xfrm>
            <a:off x="809625" y="4791075"/>
            <a:ext cx="30480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Virtual firewalls controlling traffic. Allowed Ports: 22 (SSH), 80 (HTTP), 3306 (MySQL).</a:t>
            </a:r>
            <a:endParaRPr/>
          </a:p>
        </p:txBody>
      </p:sp>
      <p:sp>
        <p:nvSpPr>
          <p:cNvPr id="173" name="Google Shape;173;p17"/>
          <p:cNvSpPr txBox="1"/>
          <p:nvPr/>
        </p:nvSpPr>
        <p:spPr>
          <a:xfrm>
            <a:off x="4895850" y="4276725"/>
            <a:ext cx="2724150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232F3E"/>
                </a:solidFill>
                <a:latin typeface="Lato"/>
                <a:ea typeface="Lato"/>
                <a:cs typeface="Lato"/>
                <a:sym typeface="Lato"/>
              </a:rPr>
              <a:t>Internet Gateway</a:t>
            </a:r>
            <a:endParaRPr/>
          </a:p>
        </p:txBody>
      </p:sp>
      <p:sp>
        <p:nvSpPr>
          <p:cNvPr id="174" name="Google Shape;174;p17"/>
          <p:cNvSpPr txBox="1"/>
          <p:nvPr/>
        </p:nvSpPr>
        <p:spPr>
          <a:xfrm>
            <a:off x="4572000" y="4791075"/>
            <a:ext cx="30480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Bridge between VPC and the public internet, enabling users to access the application.</a:t>
            </a:r>
            <a:endParaRPr/>
          </a:p>
        </p:txBody>
      </p:sp>
      <p:sp>
        <p:nvSpPr>
          <p:cNvPr id="175" name="Google Shape;175;p17"/>
          <p:cNvSpPr txBox="1"/>
          <p:nvPr/>
        </p:nvSpPr>
        <p:spPr>
          <a:xfrm>
            <a:off x="8629650" y="4276725"/>
            <a:ext cx="2752725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232F3E"/>
                </a:solidFill>
                <a:latin typeface="Lato"/>
                <a:ea typeface="Lato"/>
                <a:cs typeface="Lato"/>
                <a:sym typeface="Lato"/>
              </a:rPr>
              <a:t>Public IP</a:t>
            </a:r>
            <a:endParaRPr/>
          </a:p>
        </p:txBody>
      </p:sp>
      <p:sp>
        <p:nvSpPr>
          <p:cNvPr id="176" name="Google Shape;176;p17"/>
          <p:cNvSpPr txBox="1"/>
          <p:nvPr/>
        </p:nvSpPr>
        <p:spPr>
          <a:xfrm>
            <a:off x="8334375" y="4791075"/>
            <a:ext cx="30480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Unique identifier used to access the application directly via the browser.</a:t>
            </a:r>
            <a:endParaRPr/>
          </a:p>
        </p:txBody>
      </p:sp>
      <p:pic>
        <p:nvPicPr>
          <p:cNvPr id="177" name="Google Shape;177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09625" y="2571750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572000" y="2571750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334375" y="2571750"/>
            <a:ext cx="2857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1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09625" y="4276725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17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572000" y="4276725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17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334375" y="4276725"/>
            <a:ext cx="200025" cy="22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676400" y="2900362"/>
            <a:ext cx="8839200" cy="1466850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18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232F3E"/>
                </a:solidFill>
                <a:latin typeface="Poppins"/>
                <a:ea typeface="Poppins"/>
                <a:cs typeface="Poppins"/>
                <a:sym typeface="Poppins"/>
              </a:rPr>
              <a:t>AWS Architecture Diagram</a:t>
            </a:r>
            <a:endParaRPr/>
          </a:p>
        </p:txBody>
      </p:sp>
      <p:sp>
        <p:nvSpPr>
          <p:cNvPr id="190" name="Google Shape;190;p18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8"/>
          <p:cNvSpPr txBox="1"/>
          <p:nvPr/>
        </p:nvSpPr>
        <p:spPr>
          <a:xfrm>
            <a:off x="2986087" y="4557712"/>
            <a:ext cx="621982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545B64"/>
                </a:solidFill>
                <a:latin typeface="Lato"/>
                <a:ea typeface="Lato"/>
                <a:cs typeface="Lato"/>
                <a:sym typeface="Lato"/>
              </a:rPr>
              <a:t>Flow: Customer → Internet Gateway → EC2 (Ubuntu/Apache/PHP) → RDS (MySQL Database)</a:t>
            </a:r>
            <a:endParaRPr/>
          </a:p>
        </p:txBody>
      </p:sp>
      <p:pic>
        <p:nvPicPr>
          <p:cNvPr id="192" name="Google Shape;192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085975" y="3309937"/>
            <a:ext cx="1409700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18"/>
          <p:cNvSpPr txBox="1"/>
          <p:nvPr/>
        </p:nvSpPr>
        <p:spPr>
          <a:xfrm>
            <a:off x="2085975" y="3681412"/>
            <a:ext cx="80200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232F3E"/>
                </a:solidFill>
                <a:latin typeface="Lato"/>
                <a:ea typeface="Lato"/>
                <a:cs typeface="Lato"/>
                <a:sym typeface="Lato"/>
              </a:rPr>
              <a:t>Add Architecture Diagram Here</a:t>
            </a:r>
            <a:endParaRPr/>
          </a:p>
        </p:txBody>
      </p:sp>
      <p:pic>
        <p:nvPicPr>
          <p:cNvPr id="194" name="Google Shape;194;p18" title="forslide_architecture.jp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9" name="Google Shape;199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143500" y="1476375"/>
            <a:ext cx="1905000" cy="1114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143500" y="3257550"/>
            <a:ext cx="1905000" cy="1114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619250" y="5181600"/>
            <a:ext cx="1905000" cy="828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143500" y="5038725"/>
            <a:ext cx="1905000" cy="1114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667750" y="5038725"/>
            <a:ext cx="1905000" cy="1114425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19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232F3E"/>
                </a:solidFill>
                <a:latin typeface="Poppins"/>
                <a:ea typeface="Poppins"/>
                <a:cs typeface="Poppins"/>
                <a:sym typeface="Poppins"/>
              </a:rPr>
              <a:t>Database Design &amp; Relationships</a:t>
            </a:r>
            <a:endParaRPr/>
          </a:p>
        </p:txBody>
      </p:sp>
      <p:sp>
        <p:nvSpPr>
          <p:cNvPr id="206" name="Google Shape;206;p19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9"/>
          <p:cNvSpPr/>
          <p:nvPr/>
        </p:nvSpPr>
        <p:spPr>
          <a:xfrm>
            <a:off x="6086475" y="2781300"/>
            <a:ext cx="19050" cy="285750"/>
          </a:xfrm>
          <a:prstGeom prst="rect">
            <a:avLst/>
          </a:prstGeom>
          <a:solidFill>
            <a:srgbClr val="545B6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9"/>
          <p:cNvSpPr/>
          <p:nvPr/>
        </p:nvSpPr>
        <p:spPr>
          <a:xfrm>
            <a:off x="6086475" y="4562475"/>
            <a:ext cx="19050" cy="285750"/>
          </a:xfrm>
          <a:prstGeom prst="rect">
            <a:avLst/>
          </a:prstGeom>
          <a:solidFill>
            <a:srgbClr val="545B6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9"/>
          <p:cNvSpPr txBox="1"/>
          <p:nvPr/>
        </p:nvSpPr>
        <p:spPr>
          <a:xfrm>
            <a:off x="3933825" y="6438900"/>
            <a:ext cx="4324350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1" u="none" strike="noStrike" cap="none">
                <a:solidFill>
                  <a:srgbClr val="FF9900"/>
                </a:solidFill>
                <a:latin typeface="Lato"/>
                <a:ea typeface="Lato"/>
                <a:cs typeface="Lato"/>
                <a:sym typeface="Lato"/>
              </a:rPr>
              <a:t>Note: ORDER_ITEMS acts as a junction table connecting multiple items to a single order.</a:t>
            </a:r>
            <a:endParaRPr/>
          </a:p>
        </p:txBody>
      </p:sp>
      <p:sp>
        <p:nvSpPr>
          <p:cNvPr id="210" name="Google Shape;210;p19"/>
          <p:cNvSpPr/>
          <p:nvPr/>
        </p:nvSpPr>
        <p:spPr>
          <a:xfrm>
            <a:off x="4095750" y="5586412"/>
            <a:ext cx="476250" cy="19050"/>
          </a:xfrm>
          <a:prstGeom prst="rect">
            <a:avLst/>
          </a:prstGeom>
          <a:solidFill>
            <a:srgbClr val="545B6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9"/>
          <p:cNvSpPr/>
          <p:nvPr/>
        </p:nvSpPr>
        <p:spPr>
          <a:xfrm>
            <a:off x="7620000" y="5586412"/>
            <a:ext cx="476250" cy="19050"/>
          </a:xfrm>
          <a:prstGeom prst="rect">
            <a:avLst/>
          </a:prstGeom>
          <a:solidFill>
            <a:srgbClr val="545B6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9"/>
          <p:cNvSpPr/>
          <p:nvPr/>
        </p:nvSpPr>
        <p:spPr>
          <a:xfrm>
            <a:off x="5162550" y="1495425"/>
            <a:ext cx="1866900" cy="314325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9"/>
          <p:cNvSpPr txBox="1"/>
          <p:nvPr/>
        </p:nvSpPr>
        <p:spPr>
          <a:xfrm>
            <a:off x="5238750" y="1571625"/>
            <a:ext cx="171450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USERS</a:t>
            </a:r>
            <a:endParaRPr/>
          </a:p>
        </p:txBody>
      </p:sp>
      <p:sp>
        <p:nvSpPr>
          <p:cNvPr id="214" name="Google Shape;214;p19"/>
          <p:cNvSpPr txBox="1"/>
          <p:nvPr/>
        </p:nvSpPr>
        <p:spPr>
          <a:xfrm>
            <a:off x="5257800" y="1905000"/>
            <a:ext cx="16764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FF9900"/>
                </a:solidFill>
                <a:latin typeface="Lato"/>
                <a:ea typeface="Lato"/>
                <a:cs typeface="Lato"/>
                <a:sym typeface="Lato"/>
              </a:rPr>
              <a:t>user_id (PK)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full_name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email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role</a:t>
            </a:r>
            <a:endParaRPr/>
          </a:p>
        </p:txBody>
      </p:sp>
      <p:sp>
        <p:nvSpPr>
          <p:cNvPr id="215" name="Google Shape;215;p19"/>
          <p:cNvSpPr/>
          <p:nvPr/>
        </p:nvSpPr>
        <p:spPr>
          <a:xfrm>
            <a:off x="5162550" y="3276600"/>
            <a:ext cx="1866900" cy="314325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9"/>
          <p:cNvSpPr txBox="1"/>
          <p:nvPr/>
        </p:nvSpPr>
        <p:spPr>
          <a:xfrm>
            <a:off x="5238750" y="3352800"/>
            <a:ext cx="171450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ORDERS</a:t>
            </a:r>
            <a:endParaRPr/>
          </a:p>
        </p:txBody>
      </p:sp>
      <p:sp>
        <p:nvSpPr>
          <p:cNvPr id="217" name="Google Shape;217;p19"/>
          <p:cNvSpPr txBox="1"/>
          <p:nvPr/>
        </p:nvSpPr>
        <p:spPr>
          <a:xfrm>
            <a:off x="5257800" y="3686175"/>
            <a:ext cx="16764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FF9900"/>
                </a:solidFill>
                <a:latin typeface="Lato"/>
                <a:ea typeface="Lato"/>
                <a:cs typeface="Lato"/>
                <a:sym typeface="Lato"/>
              </a:rPr>
              <a:t>order_id (PK)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00" b="0" i="1" u="none" strike="noStrike" cap="none">
                <a:solidFill>
                  <a:srgbClr val="0073BB"/>
                </a:solidFill>
                <a:latin typeface="Lato"/>
                <a:ea typeface="Lato"/>
                <a:cs typeface="Lato"/>
                <a:sym typeface="Lato"/>
              </a:rPr>
              <a:t>user_id (FK)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total_amount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order_status</a:t>
            </a:r>
            <a:endParaRPr/>
          </a:p>
        </p:txBody>
      </p:sp>
      <p:sp>
        <p:nvSpPr>
          <p:cNvPr id="218" name="Google Shape;218;p19"/>
          <p:cNvSpPr/>
          <p:nvPr/>
        </p:nvSpPr>
        <p:spPr>
          <a:xfrm>
            <a:off x="1638300" y="5200650"/>
            <a:ext cx="1866900" cy="314325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9"/>
          <p:cNvSpPr txBox="1"/>
          <p:nvPr/>
        </p:nvSpPr>
        <p:spPr>
          <a:xfrm>
            <a:off x="1714500" y="5276850"/>
            <a:ext cx="171450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CATEGORIES</a:t>
            </a:r>
            <a:endParaRPr/>
          </a:p>
        </p:txBody>
      </p:sp>
      <p:sp>
        <p:nvSpPr>
          <p:cNvPr id="220" name="Google Shape;220;p19"/>
          <p:cNvSpPr txBox="1"/>
          <p:nvPr/>
        </p:nvSpPr>
        <p:spPr>
          <a:xfrm>
            <a:off x="1733550" y="5610225"/>
            <a:ext cx="16764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FF9900"/>
                </a:solidFill>
                <a:latin typeface="Lato"/>
                <a:ea typeface="Lato"/>
                <a:cs typeface="Lato"/>
                <a:sym typeface="Lato"/>
              </a:rPr>
              <a:t>cat_id (PK)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cat_name</a:t>
            </a:r>
            <a:endParaRPr/>
          </a:p>
        </p:txBody>
      </p:sp>
      <p:sp>
        <p:nvSpPr>
          <p:cNvPr id="221" name="Google Shape;221;p19"/>
          <p:cNvSpPr/>
          <p:nvPr/>
        </p:nvSpPr>
        <p:spPr>
          <a:xfrm>
            <a:off x="5162550" y="5057775"/>
            <a:ext cx="1866900" cy="314325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9"/>
          <p:cNvSpPr txBox="1"/>
          <p:nvPr/>
        </p:nvSpPr>
        <p:spPr>
          <a:xfrm>
            <a:off x="5238750" y="5133975"/>
            <a:ext cx="171450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MENU_ITEMS</a:t>
            </a:r>
            <a:endParaRPr/>
          </a:p>
        </p:txBody>
      </p:sp>
      <p:sp>
        <p:nvSpPr>
          <p:cNvPr id="223" name="Google Shape;223;p19"/>
          <p:cNvSpPr txBox="1"/>
          <p:nvPr/>
        </p:nvSpPr>
        <p:spPr>
          <a:xfrm>
            <a:off x="5257800" y="5467350"/>
            <a:ext cx="16764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FF9900"/>
                </a:solidFill>
                <a:latin typeface="Lato"/>
                <a:ea typeface="Lato"/>
                <a:cs typeface="Lato"/>
                <a:sym typeface="Lato"/>
              </a:rPr>
              <a:t>item_id (PK)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00" b="0" i="1" u="none" strike="noStrike" cap="none">
                <a:solidFill>
                  <a:srgbClr val="0073BB"/>
                </a:solidFill>
                <a:latin typeface="Lato"/>
                <a:ea typeface="Lato"/>
                <a:cs typeface="Lato"/>
                <a:sym typeface="Lato"/>
              </a:rPr>
              <a:t>cat_id (FK)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item_name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price</a:t>
            </a:r>
            <a:endParaRPr/>
          </a:p>
        </p:txBody>
      </p:sp>
      <p:sp>
        <p:nvSpPr>
          <p:cNvPr id="224" name="Google Shape;224;p19"/>
          <p:cNvSpPr/>
          <p:nvPr/>
        </p:nvSpPr>
        <p:spPr>
          <a:xfrm>
            <a:off x="8686800" y="5057775"/>
            <a:ext cx="1866900" cy="314325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9"/>
          <p:cNvSpPr txBox="1"/>
          <p:nvPr/>
        </p:nvSpPr>
        <p:spPr>
          <a:xfrm>
            <a:off x="8763000" y="5133975"/>
            <a:ext cx="171450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ORDER_ITEMS</a:t>
            </a:r>
            <a:endParaRPr/>
          </a:p>
        </p:txBody>
      </p:sp>
      <p:sp>
        <p:nvSpPr>
          <p:cNvPr id="226" name="Google Shape;226;p19"/>
          <p:cNvSpPr txBox="1"/>
          <p:nvPr/>
        </p:nvSpPr>
        <p:spPr>
          <a:xfrm>
            <a:off x="8782050" y="5467350"/>
            <a:ext cx="16764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FF9900"/>
                </a:solidFill>
                <a:latin typeface="Lato"/>
                <a:ea typeface="Lato"/>
                <a:cs typeface="Lato"/>
                <a:sym typeface="Lato"/>
              </a:rPr>
              <a:t>oi_id (PK)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00" b="0" i="1" u="none" strike="noStrike" cap="none">
                <a:solidFill>
                  <a:srgbClr val="0073BB"/>
                </a:solidFill>
                <a:latin typeface="Lato"/>
                <a:ea typeface="Lato"/>
                <a:cs typeface="Lato"/>
                <a:sym typeface="Lato"/>
              </a:rPr>
              <a:t>order_id (FK)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00" b="0" i="1" u="none" strike="noStrike" cap="none">
                <a:solidFill>
                  <a:srgbClr val="0073BB"/>
                </a:solidFill>
                <a:latin typeface="Lato"/>
                <a:ea typeface="Lato"/>
                <a:cs typeface="Lato"/>
                <a:sym typeface="Lato"/>
              </a:rPr>
              <a:t>item_id (FK)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qty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1" name="Google Shape;231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4319587"/>
            <a:ext cx="11049000" cy="781050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20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232F3E"/>
                </a:solidFill>
                <a:latin typeface="Poppins"/>
                <a:ea typeface="Poppins"/>
                <a:cs typeface="Poppins"/>
                <a:sym typeface="Poppins"/>
              </a:rPr>
              <a:t>Project Implementation Steps</a:t>
            </a:r>
            <a:endParaRPr/>
          </a:p>
        </p:txBody>
      </p:sp>
      <p:sp>
        <p:nvSpPr>
          <p:cNvPr id="234" name="Google Shape;234;p20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20"/>
          <p:cNvSpPr/>
          <p:nvPr/>
        </p:nvSpPr>
        <p:spPr>
          <a:xfrm>
            <a:off x="571500" y="3471862"/>
            <a:ext cx="11049000" cy="381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20"/>
          <p:cNvSpPr txBox="1"/>
          <p:nvPr/>
        </p:nvSpPr>
        <p:spPr>
          <a:xfrm>
            <a:off x="809625" y="4557712"/>
            <a:ext cx="1057275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Deployment Flow:</a:t>
            </a:r>
            <a:r>
              <a:rPr lang="en-US" sz="12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Instance Setup → Environment Provisioning → Database Linking → Application Upload → System Integration Testing.</a:t>
            </a:r>
            <a:endParaRPr/>
          </a:p>
        </p:txBody>
      </p:sp>
      <p:sp>
        <p:nvSpPr>
          <p:cNvPr id="237" name="Google Shape;237;p20"/>
          <p:cNvSpPr/>
          <p:nvPr/>
        </p:nvSpPr>
        <p:spPr>
          <a:xfrm>
            <a:off x="1072455" y="3138487"/>
            <a:ext cx="323850" cy="323850"/>
          </a:xfrm>
          <a:prstGeom prst="roundRect">
            <a:avLst>
              <a:gd name="adj" fmla="val 50000"/>
            </a:avLst>
          </a:prstGeom>
          <a:solidFill>
            <a:srgbClr val="232F3E"/>
          </a:solidFill>
          <a:ln w="381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20"/>
          <p:cNvSpPr txBox="1"/>
          <p:nvPr/>
        </p:nvSpPr>
        <p:spPr>
          <a:xfrm>
            <a:off x="571500" y="3557587"/>
            <a:ext cx="132576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232F3E"/>
                </a:solidFill>
                <a:latin typeface="Lato"/>
                <a:ea typeface="Lato"/>
                <a:cs typeface="Lato"/>
                <a:sym typeface="Lato"/>
              </a:rPr>
              <a:t>AWS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00" b="1" i="0" u="none" strike="noStrike" cap="none">
                <a:solidFill>
                  <a:srgbClr val="232F3E"/>
                </a:solidFill>
                <a:latin typeface="Lato"/>
                <a:ea typeface="Lato"/>
                <a:cs typeface="Lato"/>
                <a:sym typeface="Lato"/>
              </a:rPr>
              <a:t> Account</a:t>
            </a:r>
            <a:endParaRPr/>
          </a:p>
        </p:txBody>
      </p:sp>
      <p:sp>
        <p:nvSpPr>
          <p:cNvPr id="239" name="Google Shape;239;p20"/>
          <p:cNvSpPr/>
          <p:nvPr/>
        </p:nvSpPr>
        <p:spPr>
          <a:xfrm>
            <a:off x="2461468" y="3138487"/>
            <a:ext cx="323850" cy="323850"/>
          </a:xfrm>
          <a:prstGeom prst="roundRect">
            <a:avLst>
              <a:gd name="adj" fmla="val 50000"/>
            </a:avLst>
          </a:prstGeom>
          <a:solidFill>
            <a:srgbClr val="232F3E"/>
          </a:solidFill>
          <a:ln w="381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20"/>
          <p:cNvSpPr txBox="1"/>
          <p:nvPr/>
        </p:nvSpPr>
        <p:spPr>
          <a:xfrm>
            <a:off x="1960512" y="3557587"/>
            <a:ext cx="132576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232F3E"/>
                </a:solidFill>
                <a:latin typeface="Lato"/>
                <a:ea typeface="Lato"/>
                <a:cs typeface="Lato"/>
                <a:sym typeface="Lato"/>
              </a:rPr>
              <a:t>Launch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00" b="1" i="0" u="none" strike="noStrike" cap="none">
                <a:solidFill>
                  <a:srgbClr val="232F3E"/>
                </a:solidFill>
                <a:latin typeface="Lato"/>
                <a:ea typeface="Lato"/>
                <a:cs typeface="Lato"/>
                <a:sym typeface="Lato"/>
              </a:rPr>
              <a:t> EC2</a:t>
            </a:r>
            <a:endParaRPr/>
          </a:p>
        </p:txBody>
      </p:sp>
      <p:sp>
        <p:nvSpPr>
          <p:cNvPr id="241" name="Google Shape;241;p20"/>
          <p:cNvSpPr/>
          <p:nvPr/>
        </p:nvSpPr>
        <p:spPr>
          <a:xfrm>
            <a:off x="3850481" y="3138487"/>
            <a:ext cx="323850" cy="323850"/>
          </a:xfrm>
          <a:prstGeom prst="roundRect">
            <a:avLst>
              <a:gd name="adj" fmla="val 50000"/>
            </a:avLst>
          </a:prstGeom>
          <a:solidFill>
            <a:srgbClr val="232F3E"/>
          </a:solidFill>
          <a:ln w="381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20"/>
          <p:cNvSpPr txBox="1"/>
          <p:nvPr/>
        </p:nvSpPr>
        <p:spPr>
          <a:xfrm>
            <a:off x="3349525" y="3557587"/>
            <a:ext cx="132576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232F3E"/>
                </a:solidFill>
                <a:latin typeface="Lato"/>
                <a:ea typeface="Lato"/>
                <a:cs typeface="Lato"/>
                <a:sym typeface="Lato"/>
              </a:rPr>
              <a:t>Security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00" b="1" i="0" u="none" strike="noStrike" cap="none">
                <a:solidFill>
                  <a:srgbClr val="232F3E"/>
                </a:solidFill>
                <a:latin typeface="Lato"/>
                <a:ea typeface="Lato"/>
                <a:cs typeface="Lato"/>
                <a:sym typeface="Lato"/>
              </a:rPr>
              <a:t> Groups</a:t>
            </a:r>
            <a:endParaRPr/>
          </a:p>
        </p:txBody>
      </p:sp>
      <p:sp>
        <p:nvSpPr>
          <p:cNvPr id="243" name="Google Shape;243;p20"/>
          <p:cNvSpPr/>
          <p:nvPr/>
        </p:nvSpPr>
        <p:spPr>
          <a:xfrm>
            <a:off x="5239494" y="3138487"/>
            <a:ext cx="323850" cy="323850"/>
          </a:xfrm>
          <a:prstGeom prst="roundRect">
            <a:avLst>
              <a:gd name="adj" fmla="val 50000"/>
            </a:avLst>
          </a:prstGeom>
          <a:solidFill>
            <a:srgbClr val="232F3E"/>
          </a:solidFill>
          <a:ln w="381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20"/>
          <p:cNvSpPr txBox="1"/>
          <p:nvPr/>
        </p:nvSpPr>
        <p:spPr>
          <a:xfrm>
            <a:off x="4738538" y="3557587"/>
            <a:ext cx="132576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232F3E"/>
                </a:solidFill>
                <a:latin typeface="Lato"/>
                <a:ea typeface="Lato"/>
                <a:cs typeface="Lato"/>
                <a:sym typeface="Lato"/>
              </a:rPr>
              <a:t>Install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00" b="1" i="0" u="none" strike="noStrike" cap="none">
                <a:solidFill>
                  <a:srgbClr val="232F3E"/>
                </a:solidFill>
                <a:latin typeface="Lato"/>
                <a:ea typeface="Lato"/>
                <a:cs typeface="Lato"/>
                <a:sym typeface="Lato"/>
              </a:rPr>
              <a:t> Apache/PHP</a:t>
            </a:r>
            <a:endParaRPr/>
          </a:p>
        </p:txBody>
      </p:sp>
      <p:sp>
        <p:nvSpPr>
          <p:cNvPr id="245" name="Google Shape;245;p20"/>
          <p:cNvSpPr/>
          <p:nvPr/>
        </p:nvSpPr>
        <p:spPr>
          <a:xfrm>
            <a:off x="6628507" y="3138487"/>
            <a:ext cx="323850" cy="323850"/>
          </a:xfrm>
          <a:prstGeom prst="roundRect">
            <a:avLst>
              <a:gd name="adj" fmla="val 50000"/>
            </a:avLst>
          </a:prstGeom>
          <a:solidFill>
            <a:srgbClr val="232F3E"/>
          </a:solidFill>
          <a:ln w="381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20"/>
          <p:cNvSpPr txBox="1"/>
          <p:nvPr/>
        </p:nvSpPr>
        <p:spPr>
          <a:xfrm>
            <a:off x="6127551" y="3557587"/>
            <a:ext cx="132576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232F3E"/>
                </a:solidFill>
                <a:latin typeface="Lato"/>
                <a:ea typeface="Lato"/>
                <a:cs typeface="Lato"/>
                <a:sym typeface="Lato"/>
              </a:rPr>
              <a:t>Config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00" b="1" i="0" u="none" strike="noStrike" cap="none">
                <a:solidFill>
                  <a:srgbClr val="232F3E"/>
                </a:solidFill>
                <a:latin typeface="Lato"/>
                <a:ea typeface="Lato"/>
                <a:cs typeface="Lato"/>
                <a:sym typeface="Lato"/>
              </a:rPr>
              <a:t> RDS DB</a:t>
            </a:r>
            <a:endParaRPr/>
          </a:p>
        </p:txBody>
      </p:sp>
      <p:sp>
        <p:nvSpPr>
          <p:cNvPr id="247" name="Google Shape;247;p20"/>
          <p:cNvSpPr/>
          <p:nvPr/>
        </p:nvSpPr>
        <p:spPr>
          <a:xfrm>
            <a:off x="8017519" y="3138487"/>
            <a:ext cx="323850" cy="323850"/>
          </a:xfrm>
          <a:prstGeom prst="roundRect">
            <a:avLst>
              <a:gd name="adj" fmla="val 50000"/>
            </a:avLst>
          </a:prstGeom>
          <a:solidFill>
            <a:srgbClr val="232F3E"/>
          </a:solidFill>
          <a:ln w="381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20"/>
          <p:cNvSpPr txBox="1"/>
          <p:nvPr/>
        </p:nvSpPr>
        <p:spPr>
          <a:xfrm>
            <a:off x="7516564" y="3557587"/>
            <a:ext cx="132576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232F3E"/>
                </a:solidFill>
                <a:latin typeface="Lato"/>
                <a:ea typeface="Lato"/>
                <a:cs typeface="Lato"/>
                <a:sym typeface="Lato"/>
              </a:rPr>
              <a:t>Upload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00" b="1" i="0" u="none" strike="noStrike" cap="none">
                <a:solidFill>
                  <a:srgbClr val="232F3E"/>
                </a:solidFill>
                <a:latin typeface="Lato"/>
                <a:ea typeface="Lato"/>
                <a:cs typeface="Lato"/>
                <a:sym typeface="Lato"/>
              </a:rPr>
              <a:t> Code</a:t>
            </a:r>
            <a:endParaRPr/>
          </a:p>
        </p:txBody>
      </p:sp>
      <p:sp>
        <p:nvSpPr>
          <p:cNvPr id="249" name="Google Shape;249;p20"/>
          <p:cNvSpPr/>
          <p:nvPr/>
        </p:nvSpPr>
        <p:spPr>
          <a:xfrm>
            <a:off x="9406532" y="3138487"/>
            <a:ext cx="323850" cy="323850"/>
          </a:xfrm>
          <a:prstGeom prst="roundRect">
            <a:avLst>
              <a:gd name="adj" fmla="val 50000"/>
            </a:avLst>
          </a:prstGeom>
          <a:solidFill>
            <a:srgbClr val="232F3E"/>
          </a:solidFill>
          <a:ln w="381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20"/>
          <p:cNvSpPr txBox="1"/>
          <p:nvPr/>
        </p:nvSpPr>
        <p:spPr>
          <a:xfrm>
            <a:off x="8905577" y="3557587"/>
            <a:ext cx="132576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232F3E"/>
                </a:solidFill>
                <a:latin typeface="Lato"/>
                <a:ea typeface="Lato"/>
                <a:cs typeface="Lato"/>
                <a:sym typeface="Lato"/>
              </a:rPr>
              <a:t>Module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00" b="1" i="0" u="none" strike="noStrike" cap="none">
                <a:solidFill>
                  <a:srgbClr val="232F3E"/>
                </a:solidFill>
                <a:latin typeface="Lato"/>
                <a:ea typeface="Lato"/>
                <a:cs typeface="Lato"/>
                <a:sym typeface="Lato"/>
              </a:rPr>
              <a:t> Testing</a:t>
            </a:r>
            <a:endParaRPr/>
          </a:p>
        </p:txBody>
      </p:sp>
      <p:sp>
        <p:nvSpPr>
          <p:cNvPr id="251" name="Google Shape;251;p20"/>
          <p:cNvSpPr/>
          <p:nvPr/>
        </p:nvSpPr>
        <p:spPr>
          <a:xfrm>
            <a:off x="10795545" y="3138487"/>
            <a:ext cx="323850" cy="323850"/>
          </a:xfrm>
          <a:prstGeom prst="roundRect">
            <a:avLst>
              <a:gd name="adj" fmla="val 50000"/>
            </a:avLst>
          </a:prstGeom>
          <a:solidFill>
            <a:srgbClr val="232F3E"/>
          </a:solidFill>
          <a:ln w="381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20"/>
          <p:cNvSpPr txBox="1"/>
          <p:nvPr/>
        </p:nvSpPr>
        <p:spPr>
          <a:xfrm>
            <a:off x="10294590" y="3557587"/>
            <a:ext cx="132576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232F3E"/>
                </a:solidFill>
                <a:latin typeface="Lato"/>
                <a:ea typeface="Lato"/>
                <a:cs typeface="Lato"/>
                <a:sym typeface="Lato"/>
              </a:rPr>
              <a:t>Live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00" b="1" i="0" u="none" strike="noStrike" cap="none">
                <a:solidFill>
                  <a:srgbClr val="232F3E"/>
                </a:solidFill>
                <a:latin typeface="Lato"/>
                <a:ea typeface="Lato"/>
                <a:cs typeface="Lato"/>
                <a:sym typeface="Lato"/>
              </a:rPr>
              <a:t> Deploy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7" name="Google Shape;257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424261"/>
            <a:ext cx="5334000" cy="2314128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" name="Google Shape;259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2424261"/>
            <a:ext cx="5334000" cy="2314128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21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232F3E"/>
                </a:solidFill>
                <a:latin typeface="Poppins"/>
                <a:ea typeface="Poppins"/>
                <a:cs typeface="Poppins"/>
                <a:sym typeface="Poppins"/>
              </a:rPr>
              <a:t>System Features</a:t>
            </a:r>
            <a:endParaRPr/>
          </a:p>
        </p:txBody>
      </p:sp>
      <p:sp>
        <p:nvSpPr>
          <p:cNvPr id="261" name="Google Shape;261;p21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21"/>
          <p:cNvSpPr txBox="1"/>
          <p:nvPr/>
        </p:nvSpPr>
        <p:spPr>
          <a:xfrm>
            <a:off x="809625" y="2700486"/>
            <a:ext cx="5100637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F9900"/>
                </a:solidFill>
                <a:latin typeface="Poppins"/>
                <a:ea typeface="Poppins"/>
                <a:cs typeface="Poppins"/>
                <a:sym typeface="Poppins"/>
              </a:rPr>
              <a:t>Customer Module</a:t>
            </a:r>
            <a:endParaRPr/>
          </a:p>
        </p:txBody>
      </p:sp>
      <p:sp>
        <p:nvSpPr>
          <p:cNvPr id="263" name="Google Shape;263;p21"/>
          <p:cNvSpPr txBox="1"/>
          <p:nvPr/>
        </p:nvSpPr>
        <p:spPr>
          <a:xfrm>
            <a:off x="6524625" y="2700486"/>
            <a:ext cx="5100637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F9900"/>
                </a:solidFill>
                <a:latin typeface="Poppins"/>
                <a:ea typeface="Poppins"/>
                <a:cs typeface="Poppins"/>
                <a:sym typeface="Poppins"/>
              </a:rPr>
              <a:t>Admin Module</a:t>
            </a:r>
            <a:endParaRPr/>
          </a:p>
        </p:txBody>
      </p:sp>
      <p:pic>
        <p:nvPicPr>
          <p:cNvPr id="264" name="Google Shape;264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09625" y="2786211"/>
            <a:ext cx="2857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1"/>
          <p:cNvSpPr txBox="1"/>
          <p:nvPr/>
        </p:nvSpPr>
        <p:spPr>
          <a:xfrm>
            <a:off x="1114425" y="3302466"/>
            <a:ext cx="7620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66" name="Google Shape;266;p21"/>
          <p:cNvSpPr txBox="1"/>
          <p:nvPr/>
        </p:nvSpPr>
        <p:spPr>
          <a:xfrm>
            <a:off x="1190625" y="3300561"/>
            <a:ext cx="4476750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0" marR="0" lvl="0" indent="0" algn="l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Secure Registration &amp; Login</a:t>
            </a:r>
            <a:endParaRPr/>
          </a:p>
        </p:txBody>
      </p:sp>
      <p:sp>
        <p:nvSpPr>
          <p:cNvPr id="267" name="Google Shape;267;p21"/>
          <p:cNvSpPr txBox="1"/>
          <p:nvPr/>
        </p:nvSpPr>
        <p:spPr>
          <a:xfrm>
            <a:off x="1114425" y="3515737"/>
            <a:ext cx="7620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68" name="Google Shape;268;p21"/>
          <p:cNvSpPr txBox="1"/>
          <p:nvPr/>
        </p:nvSpPr>
        <p:spPr>
          <a:xfrm>
            <a:off x="1190625" y="3513832"/>
            <a:ext cx="4476750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0" marR="0" lvl="0" indent="0" algn="l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Search Bar &amp; Category Browsing</a:t>
            </a:r>
            <a:endParaRPr/>
          </a:p>
        </p:txBody>
      </p:sp>
      <p:sp>
        <p:nvSpPr>
          <p:cNvPr id="269" name="Google Shape;269;p21"/>
          <p:cNvSpPr txBox="1"/>
          <p:nvPr/>
        </p:nvSpPr>
        <p:spPr>
          <a:xfrm>
            <a:off x="1114425" y="3729007"/>
            <a:ext cx="7620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70" name="Google Shape;270;p21"/>
          <p:cNvSpPr txBox="1"/>
          <p:nvPr/>
        </p:nvSpPr>
        <p:spPr>
          <a:xfrm>
            <a:off x="1190625" y="3727102"/>
            <a:ext cx="4476750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0" marR="0" lvl="0" indent="0" algn="l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Dynamic Add to Cart</a:t>
            </a:r>
            <a:endParaRPr/>
          </a:p>
        </p:txBody>
      </p:sp>
      <p:sp>
        <p:nvSpPr>
          <p:cNvPr id="271" name="Google Shape;271;p21"/>
          <p:cNvSpPr txBox="1"/>
          <p:nvPr/>
        </p:nvSpPr>
        <p:spPr>
          <a:xfrm>
            <a:off x="1114425" y="3942278"/>
            <a:ext cx="7620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72" name="Google Shape;272;p21"/>
          <p:cNvSpPr txBox="1"/>
          <p:nvPr/>
        </p:nvSpPr>
        <p:spPr>
          <a:xfrm>
            <a:off x="1190625" y="3940373"/>
            <a:ext cx="4476750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0" marR="0" lvl="0" indent="0" algn="l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Order History Tracking</a:t>
            </a:r>
            <a:endParaRPr/>
          </a:p>
        </p:txBody>
      </p:sp>
      <p:sp>
        <p:nvSpPr>
          <p:cNvPr id="273" name="Google Shape;273;p21"/>
          <p:cNvSpPr txBox="1"/>
          <p:nvPr/>
        </p:nvSpPr>
        <p:spPr>
          <a:xfrm>
            <a:off x="1114425" y="4155549"/>
            <a:ext cx="7620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74" name="Google Shape;274;p21"/>
          <p:cNvSpPr txBox="1"/>
          <p:nvPr/>
        </p:nvSpPr>
        <p:spPr>
          <a:xfrm>
            <a:off x="1190625" y="4153644"/>
            <a:ext cx="4476750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0" marR="0" lvl="0" indent="0" algn="l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Responsive Web Interface</a:t>
            </a:r>
            <a:endParaRPr/>
          </a:p>
        </p:txBody>
      </p:sp>
      <p:pic>
        <p:nvPicPr>
          <p:cNvPr id="275" name="Google Shape;275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524625" y="2786211"/>
            <a:ext cx="2857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21"/>
          <p:cNvSpPr txBox="1"/>
          <p:nvPr/>
        </p:nvSpPr>
        <p:spPr>
          <a:xfrm>
            <a:off x="6829425" y="3302466"/>
            <a:ext cx="7620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77" name="Google Shape;277;p21"/>
          <p:cNvSpPr txBox="1"/>
          <p:nvPr/>
        </p:nvSpPr>
        <p:spPr>
          <a:xfrm>
            <a:off x="6905625" y="3300561"/>
            <a:ext cx="4476750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0" marR="0" lvl="0" indent="0" algn="l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Centralized Dashboard</a:t>
            </a:r>
            <a:endParaRPr/>
          </a:p>
        </p:txBody>
      </p:sp>
      <p:sp>
        <p:nvSpPr>
          <p:cNvPr id="278" name="Google Shape;278;p21"/>
          <p:cNvSpPr txBox="1"/>
          <p:nvPr/>
        </p:nvSpPr>
        <p:spPr>
          <a:xfrm>
            <a:off x="6829425" y="3515737"/>
            <a:ext cx="7620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79" name="Google Shape;279;p21"/>
          <p:cNvSpPr txBox="1"/>
          <p:nvPr/>
        </p:nvSpPr>
        <p:spPr>
          <a:xfrm>
            <a:off x="6905625" y="3513832"/>
            <a:ext cx="4476750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0" marR="0" lvl="0" indent="0" algn="l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Manage Menu &amp; Upload Food Images</a:t>
            </a:r>
            <a:endParaRPr/>
          </a:p>
        </p:txBody>
      </p:sp>
      <p:sp>
        <p:nvSpPr>
          <p:cNvPr id="280" name="Google Shape;280;p21"/>
          <p:cNvSpPr txBox="1"/>
          <p:nvPr/>
        </p:nvSpPr>
        <p:spPr>
          <a:xfrm>
            <a:off x="6829425" y="3729007"/>
            <a:ext cx="7620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81" name="Google Shape;281;p21"/>
          <p:cNvSpPr txBox="1"/>
          <p:nvPr/>
        </p:nvSpPr>
        <p:spPr>
          <a:xfrm>
            <a:off x="6905625" y="3727102"/>
            <a:ext cx="4476750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0" marR="0" lvl="0" indent="0" algn="l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Real-time Order Management</a:t>
            </a:r>
            <a:endParaRPr/>
          </a:p>
        </p:txBody>
      </p:sp>
      <p:sp>
        <p:nvSpPr>
          <p:cNvPr id="282" name="Google Shape;282;p21"/>
          <p:cNvSpPr txBox="1"/>
          <p:nvPr/>
        </p:nvSpPr>
        <p:spPr>
          <a:xfrm>
            <a:off x="6829425" y="3942278"/>
            <a:ext cx="7620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83" name="Google Shape;283;p21"/>
          <p:cNvSpPr txBox="1"/>
          <p:nvPr/>
        </p:nvSpPr>
        <p:spPr>
          <a:xfrm>
            <a:off x="6905625" y="3940373"/>
            <a:ext cx="4476750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0" marR="0" lvl="0" indent="0" algn="l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Update Order Status (Preparing/Sent)</a:t>
            </a:r>
            <a:endParaRPr/>
          </a:p>
        </p:txBody>
      </p:sp>
      <p:sp>
        <p:nvSpPr>
          <p:cNvPr id="284" name="Google Shape;284;p21"/>
          <p:cNvSpPr txBox="1"/>
          <p:nvPr/>
        </p:nvSpPr>
        <p:spPr>
          <a:xfrm>
            <a:off x="6829425" y="4155549"/>
            <a:ext cx="7620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85" name="Google Shape;285;p21"/>
          <p:cNvSpPr txBox="1"/>
          <p:nvPr/>
        </p:nvSpPr>
        <p:spPr>
          <a:xfrm>
            <a:off x="6905625" y="4153644"/>
            <a:ext cx="4476750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0" marR="0" lvl="0" indent="0" algn="l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Customer Record Management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0" name="Google Shape;290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223789"/>
            <a:ext cx="3524250" cy="153858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2" name="Google Shape;292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33875" y="2223789"/>
            <a:ext cx="3524250" cy="153858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3" name="Google Shape;293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096250" y="2223789"/>
            <a:ext cx="3524250" cy="153858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" name="Google Shape;294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4000500"/>
            <a:ext cx="3524250" cy="153858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5" name="Google Shape;295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33875" y="4000500"/>
            <a:ext cx="3524250" cy="153858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6" name="Google Shape;296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096250" y="4000500"/>
            <a:ext cx="3524250" cy="1538585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p22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232F3E"/>
                </a:solidFill>
                <a:latin typeface="Poppins"/>
                <a:ea typeface="Poppins"/>
                <a:cs typeface="Poppins"/>
                <a:sym typeface="Poppins"/>
              </a:rPr>
              <a:t>Future Scope (Roadmap)</a:t>
            </a:r>
            <a:endParaRPr/>
          </a:p>
        </p:txBody>
      </p:sp>
      <p:sp>
        <p:nvSpPr>
          <p:cNvPr id="298" name="Google Shape;298;p22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22"/>
          <p:cNvSpPr txBox="1"/>
          <p:nvPr/>
        </p:nvSpPr>
        <p:spPr>
          <a:xfrm>
            <a:off x="809625" y="2702569"/>
            <a:ext cx="3200400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AWS Route 53</a:t>
            </a:r>
            <a:endParaRPr/>
          </a:p>
        </p:txBody>
      </p:sp>
      <p:sp>
        <p:nvSpPr>
          <p:cNvPr id="300" name="Google Shape;300;p22"/>
          <p:cNvSpPr txBox="1"/>
          <p:nvPr/>
        </p:nvSpPr>
        <p:spPr>
          <a:xfrm>
            <a:off x="809625" y="3086100"/>
            <a:ext cx="30480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Implement custom domain mapping (e.g., cloudbites.com).</a:t>
            </a:r>
            <a:endParaRPr/>
          </a:p>
        </p:txBody>
      </p:sp>
      <p:sp>
        <p:nvSpPr>
          <p:cNvPr id="301" name="Google Shape;301;p22"/>
          <p:cNvSpPr txBox="1"/>
          <p:nvPr/>
        </p:nvSpPr>
        <p:spPr>
          <a:xfrm>
            <a:off x="4572000" y="2702569"/>
            <a:ext cx="3200400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AWS ACM &amp; S3</a:t>
            </a:r>
            <a:endParaRPr/>
          </a:p>
        </p:txBody>
      </p:sp>
      <p:sp>
        <p:nvSpPr>
          <p:cNvPr id="302" name="Google Shape;302;p22"/>
          <p:cNvSpPr txBox="1"/>
          <p:nvPr/>
        </p:nvSpPr>
        <p:spPr>
          <a:xfrm>
            <a:off x="4572000" y="3086100"/>
            <a:ext cx="30480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SSL Certificates for HTTPS and S3 for static image storage.</a:t>
            </a:r>
            <a:endParaRPr/>
          </a:p>
        </p:txBody>
      </p:sp>
      <p:sp>
        <p:nvSpPr>
          <p:cNvPr id="303" name="Google Shape;303;p22"/>
          <p:cNvSpPr txBox="1"/>
          <p:nvPr/>
        </p:nvSpPr>
        <p:spPr>
          <a:xfrm>
            <a:off x="8334375" y="2702569"/>
            <a:ext cx="3200400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ELB &amp; Auto Scaling</a:t>
            </a:r>
            <a:endParaRPr/>
          </a:p>
        </p:txBody>
      </p:sp>
      <p:sp>
        <p:nvSpPr>
          <p:cNvPr id="304" name="Google Shape;304;p22"/>
          <p:cNvSpPr txBox="1"/>
          <p:nvPr/>
        </p:nvSpPr>
        <p:spPr>
          <a:xfrm>
            <a:off x="8334375" y="3086100"/>
            <a:ext cx="30480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Distribute traffic across instances and scale based on load.</a:t>
            </a:r>
            <a:endParaRPr/>
          </a:p>
        </p:txBody>
      </p:sp>
      <p:sp>
        <p:nvSpPr>
          <p:cNvPr id="305" name="Google Shape;305;p22"/>
          <p:cNvSpPr txBox="1"/>
          <p:nvPr/>
        </p:nvSpPr>
        <p:spPr>
          <a:xfrm>
            <a:off x="809625" y="4479280"/>
            <a:ext cx="3200400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CloudWatch &amp; SNS</a:t>
            </a:r>
            <a:endParaRPr/>
          </a:p>
        </p:txBody>
      </p:sp>
      <p:sp>
        <p:nvSpPr>
          <p:cNvPr id="306" name="Google Shape;306;p22"/>
          <p:cNvSpPr txBox="1"/>
          <p:nvPr/>
        </p:nvSpPr>
        <p:spPr>
          <a:xfrm>
            <a:off x="809625" y="4862810"/>
            <a:ext cx="304800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Resource monitoring and SMS/Email order alerts.</a:t>
            </a:r>
            <a:endParaRPr/>
          </a:p>
        </p:txBody>
      </p:sp>
      <p:sp>
        <p:nvSpPr>
          <p:cNvPr id="307" name="Google Shape;307;p22"/>
          <p:cNvSpPr txBox="1"/>
          <p:nvPr/>
        </p:nvSpPr>
        <p:spPr>
          <a:xfrm>
            <a:off x="4572000" y="4479280"/>
            <a:ext cx="3200400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Payment Gateway</a:t>
            </a:r>
            <a:endParaRPr/>
          </a:p>
        </p:txBody>
      </p:sp>
      <p:sp>
        <p:nvSpPr>
          <p:cNvPr id="308" name="Google Shape;308;p22"/>
          <p:cNvSpPr txBox="1"/>
          <p:nvPr/>
        </p:nvSpPr>
        <p:spPr>
          <a:xfrm>
            <a:off x="4572000" y="4862810"/>
            <a:ext cx="30480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Integration with UPI, Stripe, or PayPal for live transactions.</a:t>
            </a:r>
            <a:endParaRPr/>
          </a:p>
        </p:txBody>
      </p:sp>
      <p:sp>
        <p:nvSpPr>
          <p:cNvPr id="309" name="Google Shape;309;p22"/>
          <p:cNvSpPr txBox="1"/>
          <p:nvPr/>
        </p:nvSpPr>
        <p:spPr>
          <a:xfrm>
            <a:off x="8334375" y="4479280"/>
            <a:ext cx="3200400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Mobile App</a:t>
            </a:r>
            <a:endParaRPr/>
          </a:p>
        </p:txBody>
      </p:sp>
      <p:sp>
        <p:nvSpPr>
          <p:cNvPr id="310" name="Google Shape;310;p22"/>
          <p:cNvSpPr txBox="1"/>
          <p:nvPr/>
        </p:nvSpPr>
        <p:spPr>
          <a:xfrm>
            <a:off x="8334375" y="4862810"/>
            <a:ext cx="30480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Native Android and iOS applications using AWS Amplify.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5" name="Google Shape;315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6" name="Google Shape;316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2280344"/>
            <a:ext cx="5334000" cy="2316360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23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232F3E"/>
                </a:solidFill>
                <a:latin typeface="Poppins"/>
                <a:ea typeface="Poppins"/>
                <a:cs typeface="Poppins"/>
                <a:sym typeface="Poppins"/>
              </a:rPr>
              <a:t>Results</a:t>
            </a:r>
            <a:endParaRPr/>
          </a:p>
        </p:txBody>
      </p:sp>
      <p:sp>
        <p:nvSpPr>
          <p:cNvPr id="318" name="Google Shape;318;p23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23"/>
          <p:cNvSpPr txBox="1"/>
          <p:nvPr/>
        </p:nvSpPr>
        <p:spPr>
          <a:xfrm>
            <a:off x="571500" y="2671762"/>
            <a:ext cx="5334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0" b="1" i="0" u="none" strike="noStrike" cap="none">
                <a:solidFill>
                  <a:srgbClr val="FF9900"/>
                </a:solidFill>
                <a:latin typeface="Lato"/>
                <a:ea typeface="Lato"/>
                <a:cs typeface="Lato"/>
                <a:sym typeface="Lato"/>
              </a:rPr>
              <a:t>100%</a:t>
            </a:r>
            <a:endParaRPr/>
          </a:p>
        </p:txBody>
      </p:sp>
      <p:sp>
        <p:nvSpPr>
          <p:cNvPr id="320" name="Google Shape;320;p23"/>
          <p:cNvSpPr txBox="1"/>
          <p:nvPr/>
        </p:nvSpPr>
        <p:spPr>
          <a:xfrm>
            <a:off x="571500" y="3814762"/>
            <a:ext cx="533400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AWS Deployed</a:t>
            </a:r>
            <a:endParaRPr/>
          </a:p>
        </p:txBody>
      </p:sp>
      <p:sp>
        <p:nvSpPr>
          <p:cNvPr id="321" name="Google Shape;321;p23"/>
          <p:cNvSpPr txBox="1"/>
          <p:nvPr/>
        </p:nvSpPr>
        <p:spPr>
          <a:xfrm>
            <a:off x="6543675" y="2537519"/>
            <a:ext cx="5060632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F9900"/>
                </a:solidFill>
                <a:latin typeface="Poppins"/>
                <a:ea typeface="Poppins"/>
                <a:cs typeface="Poppins"/>
                <a:sym typeface="Poppins"/>
              </a:rPr>
              <a:t>Key Achievements</a:t>
            </a:r>
            <a:endParaRPr/>
          </a:p>
        </p:txBody>
      </p:sp>
      <p:sp>
        <p:nvSpPr>
          <p:cNvPr id="322" name="Google Shape;322;p23"/>
          <p:cNvSpPr txBox="1"/>
          <p:nvPr/>
        </p:nvSpPr>
        <p:spPr>
          <a:xfrm>
            <a:off x="6838950" y="3089017"/>
            <a:ext cx="8572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323" name="Google Shape;323;p23"/>
          <p:cNvSpPr txBox="1"/>
          <p:nvPr/>
        </p:nvSpPr>
        <p:spPr>
          <a:xfrm>
            <a:off x="6924675" y="3089969"/>
            <a:ext cx="443865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5725" tIns="0" rIns="0" bIns="0" anchor="t" anchorCtr="0">
            <a:spAutoFit/>
          </a:bodyPr>
          <a:lstStyle/>
          <a:p>
            <a:pPr marL="0" marR="0" lvl="0" indent="0" algn="l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Successful integration of EC2 and RDS</a:t>
            </a:r>
            <a:endParaRPr/>
          </a:p>
        </p:txBody>
      </p:sp>
      <p:sp>
        <p:nvSpPr>
          <p:cNvPr id="324" name="Google Shape;324;p23"/>
          <p:cNvSpPr txBox="1"/>
          <p:nvPr/>
        </p:nvSpPr>
        <p:spPr>
          <a:xfrm>
            <a:off x="6838950" y="3363307"/>
            <a:ext cx="8572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325" name="Google Shape;325;p23"/>
          <p:cNvSpPr txBox="1"/>
          <p:nvPr/>
        </p:nvSpPr>
        <p:spPr>
          <a:xfrm>
            <a:off x="6924675" y="3364259"/>
            <a:ext cx="443865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5725" tIns="0" rIns="0" bIns="0" anchor="t" anchorCtr="0">
            <a:spAutoFit/>
          </a:bodyPr>
          <a:lstStyle/>
          <a:p>
            <a:pPr marL="0" marR="0" lvl="0" indent="0" algn="l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Role-based Access Control (Admin/Customer)</a:t>
            </a:r>
            <a:endParaRPr/>
          </a:p>
        </p:txBody>
      </p:sp>
      <p:sp>
        <p:nvSpPr>
          <p:cNvPr id="326" name="Google Shape;326;p23"/>
          <p:cNvSpPr txBox="1"/>
          <p:nvPr/>
        </p:nvSpPr>
        <p:spPr>
          <a:xfrm>
            <a:off x="6838950" y="3637597"/>
            <a:ext cx="8572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327" name="Google Shape;327;p23"/>
          <p:cNvSpPr txBox="1"/>
          <p:nvPr/>
        </p:nvSpPr>
        <p:spPr>
          <a:xfrm>
            <a:off x="6924675" y="3638550"/>
            <a:ext cx="443865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5725" tIns="0" rIns="0" bIns="0" anchor="t" anchorCtr="0">
            <a:spAutoFit/>
          </a:bodyPr>
          <a:lstStyle/>
          <a:p>
            <a:pPr marL="0" marR="0" lvl="0" indent="0" algn="l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Efficient dynamic menu search logic</a:t>
            </a:r>
            <a:endParaRPr/>
          </a:p>
        </p:txBody>
      </p:sp>
      <p:sp>
        <p:nvSpPr>
          <p:cNvPr id="328" name="Google Shape;328;p23"/>
          <p:cNvSpPr txBox="1"/>
          <p:nvPr/>
        </p:nvSpPr>
        <p:spPr>
          <a:xfrm>
            <a:off x="6838950" y="3911887"/>
            <a:ext cx="8572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329" name="Google Shape;329;p23"/>
          <p:cNvSpPr txBox="1"/>
          <p:nvPr/>
        </p:nvSpPr>
        <p:spPr>
          <a:xfrm>
            <a:off x="6924675" y="3912840"/>
            <a:ext cx="443865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5725" tIns="0" rIns="0" bIns="0" anchor="t" anchorCtr="0">
            <a:spAutoFit/>
          </a:bodyPr>
          <a:lstStyle/>
          <a:p>
            <a:pPr marL="0" marR="0" lvl="0" indent="0" algn="l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Secure environment via Security Groups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F3E"/>
        </a:solidFill>
        <a:effectLst/>
      </p:bgPr>
    </p:bg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4" name="Google Shape;334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35" name="Google Shape;335;p24"/>
          <p:cNvSpPr txBox="1"/>
          <p:nvPr/>
        </p:nvSpPr>
        <p:spPr>
          <a:xfrm>
            <a:off x="295275" y="1261169"/>
            <a:ext cx="1160145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>
                <a:solidFill>
                  <a:srgbClr val="FF9900"/>
                </a:solidFill>
                <a:latin typeface="Poppins"/>
                <a:ea typeface="Poppins"/>
                <a:cs typeface="Poppins"/>
                <a:sym typeface="Poppins"/>
              </a:rPr>
              <a:t>Conclusion</a:t>
            </a:r>
            <a:endParaRPr/>
          </a:p>
        </p:txBody>
      </p:sp>
      <p:sp>
        <p:nvSpPr>
          <p:cNvPr id="336" name="Google Shape;336;p24"/>
          <p:cNvSpPr txBox="1"/>
          <p:nvPr/>
        </p:nvSpPr>
        <p:spPr>
          <a:xfrm>
            <a:off x="1809750" y="2404169"/>
            <a:ext cx="85725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Cloud Bites successfully demonstrates how AWS services like EC2, RDS, and VPC work together to create a secure, scalable, and efficient restaurant infrastructure.</a:t>
            </a:r>
            <a:endParaRPr/>
          </a:p>
        </p:txBody>
      </p:sp>
      <p:sp>
        <p:nvSpPr>
          <p:cNvPr id="337" name="Google Shape;337;p24"/>
          <p:cNvSpPr/>
          <p:nvPr/>
        </p:nvSpPr>
        <p:spPr>
          <a:xfrm>
            <a:off x="4667250" y="3566219"/>
            <a:ext cx="2857500" cy="381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24"/>
          <p:cNvSpPr txBox="1"/>
          <p:nvPr/>
        </p:nvSpPr>
        <p:spPr>
          <a:xfrm>
            <a:off x="295275" y="4080569"/>
            <a:ext cx="11601450" cy="754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Thank You</a:t>
            </a:r>
            <a:endParaRPr/>
          </a:p>
        </p:txBody>
      </p:sp>
      <p:sp>
        <p:nvSpPr>
          <p:cNvPr id="339" name="Google Shape;339;p24"/>
          <p:cNvSpPr txBox="1"/>
          <p:nvPr/>
        </p:nvSpPr>
        <p:spPr>
          <a:xfrm>
            <a:off x="571500" y="4930080"/>
            <a:ext cx="110490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F9900"/>
                </a:solidFill>
                <a:latin typeface="Lato Light"/>
                <a:ea typeface="Lato Light"/>
                <a:cs typeface="Lato Light"/>
                <a:sym typeface="Lato Light"/>
              </a:rPr>
              <a:t>Questions?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719</Words>
  <Application>Microsoft Office PowerPoint</Application>
  <PresentationFormat>Widescreen</PresentationFormat>
  <Paragraphs>134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Poppins</vt:lpstr>
      <vt:lpstr>Calibri</vt:lpstr>
      <vt:lpstr>Lato Light</vt:lpstr>
      <vt:lpstr>Lato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Arpit Gupta</cp:lastModifiedBy>
  <cp:revision>2</cp:revision>
  <dcterms:modified xsi:type="dcterms:W3CDTF">2026-07-13T08:45:06Z</dcterms:modified>
</cp:coreProperties>
</file>